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1"/>
  </p:sldMasterIdLst>
  <p:notesMasterIdLst>
    <p:notesMasterId r:id="rId33"/>
  </p:notesMasterIdLst>
  <p:sldIdLst>
    <p:sldId id="258" r:id="rId2"/>
    <p:sldId id="263" r:id="rId3"/>
    <p:sldId id="262" r:id="rId4"/>
    <p:sldId id="265" r:id="rId5"/>
    <p:sldId id="259" r:id="rId6"/>
    <p:sldId id="266" r:id="rId7"/>
    <p:sldId id="269" r:id="rId8"/>
    <p:sldId id="428" r:id="rId9"/>
    <p:sldId id="401" r:id="rId10"/>
    <p:sldId id="400" r:id="rId11"/>
    <p:sldId id="402" r:id="rId12"/>
    <p:sldId id="395" r:id="rId13"/>
    <p:sldId id="391" r:id="rId14"/>
    <p:sldId id="393" r:id="rId15"/>
    <p:sldId id="271" r:id="rId16"/>
    <p:sldId id="409" r:id="rId17"/>
    <p:sldId id="411" r:id="rId18"/>
    <p:sldId id="413" r:id="rId19"/>
    <p:sldId id="412" r:id="rId20"/>
    <p:sldId id="405" r:id="rId21"/>
    <p:sldId id="414" r:id="rId22"/>
    <p:sldId id="410" r:id="rId23"/>
    <p:sldId id="418" r:id="rId24"/>
    <p:sldId id="417" r:id="rId25"/>
    <p:sldId id="420" r:id="rId26"/>
    <p:sldId id="421" r:id="rId27"/>
    <p:sldId id="424" r:id="rId28"/>
    <p:sldId id="422" r:id="rId29"/>
    <p:sldId id="425" r:id="rId30"/>
    <p:sldId id="426" r:id="rId31"/>
    <p:sldId id="427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BF9"/>
    <a:srgbClr val="FDFEFA"/>
    <a:srgbClr val="FBF9EF"/>
    <a:srgbClr val="F9EEEC"/>
    <a:srgbClr val="ECE2E0"/>
    <a:srgbClr val="CCEB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66"/>
    <p:restoredTop sz="94429"/>
  </p:normalViewPr>
  <p:slideViewPr>
    <p:cSldViewPr snapToGrid="0">
      <p:cViewPr varScale="1">
        <p:scale>
          <a:sx n="115" d="100"/>
          <a:sy n="115" d="100"/>
        </p:scale>
        <p:origin x="3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49983C-5DC3-F741-AEFF-E7310159C65A}" type="datetimeFigureOut">
              <a:rPr lang="en-US" smtClean="0"/>
              <a:t>8/23/26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1C00E-EBCB-AC4C-A0B2-C8A26824F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79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1C00E-EBCB-AC4C-A0B2-C8A26824FD9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58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668B-75EC-B045-B3BB-73DAFE66F087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5F783-C9C7-FF43-A210-33F207878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77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668B-75EC-B045-B3BB-73DAFE66F087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5F783-C9C7-FF43-A210-33F207878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72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668B-75EC-B045-B3BB-73DAFE66F087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5F783-C9C7-FF43-A210-33F207878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47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668B-75EC-B045-B3BB-73DAFE66F087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5F783-C9C7-FF43-A210-33F207878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02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668B-75EC-B045-B3BB-73DAFE66F087}" type="datetimeFigureOut">
              <a:rPr lang="en-US" smtClean="0"/>
              <a:t>8/23/26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5F783-C9C7-FF43-A210-33F207878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89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668B-75EC-B045-B3BB-73DAFE66F087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5F783-C9C7-FF43-A210-33F207878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08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668B-75EC-B045-B3BB-73DAFE66F087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5F783-C9C7-FF43-A210-33F207878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48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668B-75EC-B045-B3BB-73DAFE66F087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5F783-C9C7-FF43-A210-33F207878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07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668B-75EC-B045-B3BB-73DAFE66F087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5F783-C9C7-FF43-A210-33F207878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788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668B-75EC-B045-B3BB-73DAFE66F087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5F783-C9C7-FF43-A210-33F207878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06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668B-75EC-B045-B3BB-73DAFE66F087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5F783-C9C7-FF43-A210-33F207878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671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668B-75EC-B045-B3BB-73DAFE66F087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5F783-C9C7-FF43-A210-33F207878E9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9553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668B-75EC-B045-B3BB-73DAFE66F087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5F783-C9C7-FF43-A210-33F207878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0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668B-75EC-B045-B3BB-73DAFE66F087}" type="datetimeFigureOut">
              <a:rPr lang="en-US" smtClean="0"/>
              <a:t>8/23/26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5F783-C9C7-FF43-A210-33F207878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764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668B-75EC-B045-B3BB-73DAFE66F087}" type="datetimeFigureOut">
              <a:rPr lang="en-US" smtClean="0"/>
              <a:t>8/23/26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5F783-C9C7-FF43-A210-33F207878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28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668B-75EC-B045-B3BB-73DAFE66F087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5F783-C9C7-FF43-A210-33F207878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19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668B-75EC-B045-B3BB-73DAFE66F087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5F783-C9C7-FF43-A210-33F207878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832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1865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4FE668B-75EC-B045-B3BB-73DAFE66F087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5F783-C9C7-FF43-A210-33F207878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739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rbl/Mash" TargetMode="Externa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seemann/snippy" TargetMode="Externa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28"/>
          <p:cNvSpPr/>
          <p:nvPr/>
        </p:nvSpPr>
        <p:spPr>
          <a:xfrm>
            <a:off x="2314355" y="2423160"/>
            <a:ext cx="7733413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Bacterial Recombination</a:t>
            </a:r>
            <a:endParaRPr lang="en-US" sz="5000" dirty="0"/>
          </a:p>
        </p:txBody>
      </p:sp>
      <p:sp>
        <p:nvSpPr>
          <p:cNvPr id="31" name="Text 29"/>
          <p:cNvSpPr/>
          <p:nvPr/>
        </p:nvSpPr>
        <p:spPr>
          <a:xfrm>
            <a:off x="3626965" y="3494425"/>
            <a:ext cx="5108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i="1" dirty="0">
                <a:solidFill>
                  <a:srgbClr val="E2A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Biology to Bioinformatics</a:t>
            </a:r>
            <a:endParaRPr lang="en-US" sz="29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55D5DC-9386-FF70-83AA-B4C0F7D86DFC}"/>
              </a:ext>
            </a:extLst>
          </p:cNvPr>
          <p:cNvSpPr txBox="1"/>
          <p:nvPr/>
        </p:nvSpPr>
        <p:spPr>
          <a:xfrm>
            <a:off x="3844422" y="1190846"/>
            <a:ext cx="45031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DEGAiN</a:t>
            </a:r>
            <a:r>
              <a:rPr lang="en-US" b="1" dirty="0"/>
              <a:t> TRAINING COURSE - MODULE 1</a:t>
            </a:r>
            <a:br>
              <a:rPr lang="en-US" dirty="0"/>
            </a:b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6896D0-D6F2-6657-1149-B48EFEE589CF}"/>
              </a:ext>
            </a:extLst>
          </p:cNvPr>
          <p:cNvSpPr txBox="1"/>
          <p:nvPr/>
        </p:nvSpPr>
        <p:spPr>
          <a:xfrm>
            <a:off x="5234763" y="6085161"/>
            <a:ext cx="1722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21 July 2026</a:t>
            </a:r>
          </a:p>
        </p:txBody>
      </p:sp>
      <p:sp>
        <p:nvSpPr>
          <p:cNvPr id="2" name="Text 29">
            <a:extLst>
              <a:ext uri="{FF2B5EF4-FFF2-40B4-BE49-F238E27FC236}">
                <a16:creationId xmlns:a16="http://schemas.microsoft.com/office/drawing/2014/main" id="{43727266-353C-9D60-3E61-C3905054D9CC}"/>
              </a:ext>
            </a:extLst>
          </p:cNvPr>
          <p:cNvSpPr/>
          <p:nvPr/>
        </p:nvSpPr>
        <p:spPr>
          <a:xfrm>
            <a:off x="3541904" y="5086248"/>
            <a:ext cx="5108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9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Odion O. Ikhimiukor</a:t>
            </a:r>
            <a:endParaRPr lang="en-US" sz="2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3F1D2-37B2-7BF9-4E5F-5DEA1EB3B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>
            <a:extLst>
              <a:ext uri="{FF2B5EF4-FFF2-40B4-BE49-F238E27FC236}">
                <a16:creationId xmlns:a16="http://schemas.microsoft.com/office/drawing/2014/main" id="{9F4EE9F6-6143-8639-3CAA-BBE9367447D6}"/>
              </a:ext>
            </a:extLst>
          </p:cNvPr>
          <p:cNvSpPr/>
          <p:nvPr/>
        </p:nvSpPr>
        <p:spPr>
          <a:xfrm>
            <a:off x="409612" y="2048599"/>
            <a:ext cx="11155680" cy="3622996"/>
          </a:xfrm>
          <a:prstGeom prst="roundRect">
            <a:avLst>
              <a:gd name="adj" fmla="val 2951"/>
            </a:avLst>
          </a:prstGeom>
          <a:solidFill>
            <a:srgbClr val="1B2C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DEB061E6-2D65-D8DD-5FAD-762C805954CD}"/>
              </a:ext>
            </a:extLst>
          </p:cNvPr>
          <p:cNvSpPr/>
          <p:nvPr/>
        </p:nvSpPr>
        <p:spPr>
          <a:xfrm>
            <a:off x="626708" y="2297883"/>
            <a:ext cx="10006710" cy="3072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Define recombination and the vocabulary used to describe it</a:t>
            </a:r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endParaRPr lang="en-US" sz="2000" dirty="0">
              <a:latin typeface="Cambria" panose="02040503050406030204" pitchFamily="18" charset="0"/>
            </a:endParaRPr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Explain how and why bacteria exchange and rearrange DNA</a:t>
            </a:r>
          </a:p>
          <a:p>
            <a:pPr>
              <a:lnSpc>
                <a:spcPct val="100000"/>
              </a:lnSpc>
              <a:spcAft>
                <a:spcPts val="700"/>
              </a:spcAft>
              <a:buSzPct val="100000"/>
            </a:pPr>
            <a:endParaRPr lang="en-US" sz="2000" dirty="0">
              <a:latin typeface="Cambria" panose="02040503050406030204" pitchFamily="18" charset="0"/>
            </a:endParaRPr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Use Bioinformatic tools to detect and mask recombinant regions in a dataset</a:t>
            </a:r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endParaRPr lang="en-US" sz="2000" dirty="0"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latin typeface="Cambria" panose="02040503050406030204" pitchFamily="18" charset="0"/>
                <a:cs typeface="Calibri" pitchFamily="34" charset="-120"/>
              </a:rPr>
              <a:t>Visualize and estimate recombinational parameters affecting DEC lineages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DD2EA36-90B8-5D7F-6C50-F4E23468C062}"/>
              </a:ext>
            </a:extLst>
          </p:cNvPr>
          <p:cNvSpPr/>
          <p:nvPr/>
        </p:nvSpPr>
        <p:spPr>
          <a:xfrm>
            <a:off x="518160" y="442662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 for this session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25597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4713B3-7AC0-380A-B6C6-BBDFC5507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">
            <a:extLst>
              <a:ext uri="{FF2B5EF4-FFF2-40B4-BE49-F238E27FC236}">
                <a16:creationId xmlns:a16="http://schemas.microsoft.com/office/drawing/2014/main" id="{68ACEF14-ABCA-03E8-0BAB-D1464589F837}"/>
              </a:ext>
            </a:extLst>
          </p:cNvPr>
          <p:cNvSpPr/>
          <p:nvPr/>
        </p:nvSpPr>
        <p:spPr>
          <a:xfrm>
            <a:off x="729861" y="1600531"/>
            <a:ext cx="10501625" cy="4341571"/>
          </a:xfrm>
          <a:prstGeom prst="roundRect">
            <a:avLst>
              <a:gd name="adj" fmla="val 2278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EFEF5764-2F75-AA31-4A57-E931C7F5CEE7}"/>
              </a:ext>
            </a:extLst>
          </p:cNvPr>
          <p:cNvSpPr/>
          <p:nvPr/>
        </p:nvSpPr>
        <p:spPr>
          <a:xfrm>
            <a:off x="1104407" y="1870573"/>
            <a:ext cx="3440302" cy="6088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43D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1 . Lecture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0FD6333C-062A-785C-6F66-BAEC6A94567E}"/>
              </a:ext>
            </a:extLst>
          </p:cNvPr>
          <p:cNvSpPr/>
          <p:nvPr/>
        </p:nvSpPr>
        <p:spPr>
          <a:xfrm>
            <a:off x="1407233" y="2449109"/>
            <a:ext cx="3440302" cy="304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0E7C8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FC2DD09-AB82-28EE-1056-2D119AF15F7C}"/>
              </a:ext>
            </a:extLst>
          </p:cNvPr>
          <p:cNvSpPr/>
          <p:nvPr/>
        </p:nvSpPr>
        <p:spPr>
          <a:xfrm>
            <a:off x="1407232" y="2724663"/>
            <a:ext cx="4894717" cy="6073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4243D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Introduction to bacterial recombination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8009EFF6-CF26-F8CF-B508-F769C3D02B45}"/>
              </a:ext>
            </a:extLst>
          </p:cNvPr>
          <p:cNvSpPr/>
          <p:nvPr/>
        </p:nvSpPr>
        <p:spPr>
          <a:xfrm>
            <a:off x="538757" y="431986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 in this training</a:t>
            </a:r>
            <a:endParaRPr lang="en-US" sz="28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84012D04-421C-255B-3959-0D1C5D3EAB1C}"/>
              </a:ext>
            </a:extLst>
          </p:cNvPr>
          <p:cNvSpPr/>
          <p:nvPr/>
        </p:nvSpPr>
        <p:spPr>
          <a:xfrm>
            <a:off x="6727251" y="2449109"/>
            <a:ext cx="3440302" cy="304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E4593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C2303BC5-5F50-9D54-6922-5A05FD06410A}"/>
              </a:ext>
            </a:extLst>
          </p:cNvPr>
          <p:cNvSpPr/>
          <p:nvPr/>
        </p:nvSpPr>
        <p:spPr>
          <a:xfrm>
            <a:off x="6727251" y="2716445"/>
            <a:ext cx="4709366" cy="7070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4243D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Overview of Bioinformatic Tools.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FB284FDF-1BC2-D23F-484C-962E3040B9D3}"/>
              </a:ext>
            </a:extLst>
          </p:cNvPr>
          <p:cNvSpPr/>
          <p:nvPr/>
        </p:nvSpPr>
        <p:spPr>
          <a:xfrm>
            <a:off x="1407232" y="4370780"/>
            <a:ext cx="4573442" cy="654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4243D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Practical Sessions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F64485C6-142F-0D01-34E4-64B2CDBC5CC2}"/>
              </a:ext>
            </a:extLst>
          </p:cNvPr>
          <p:cNvSpPr/>
          <p:nvPr/>
        </p:nvSpPr>
        <p:spPr>
          <a:xfrm>
            <a:off x="1104407" y="3863793"/>
            <a:ext cx="3440302" cy="6088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43D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2 . Hands-on</a:t>
            </a:r>
            <a:endParaRPr lang="en-US" sz="20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143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778E3-6619-4310-166B-D777BB038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516C2E-30BD-4A3E-977A-088B9F618642}"/>
              </a:ext>
            </a:extLst>
          </p:cNvPr>
          <p:cNvSpPr/>
          <p:nvPr/>
        </p:nvSpPr>
        <p:spPr>
          <a:xfrm>
            <a:off x="502920" y="2468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4BE7BF-B1D5-1E18-09BF-39B067998C7B}"/>
              </a:ext>
            </a:extLst>
          </p:cNvPr>
          <p:cNvSpPr/>
          <p:nvPr/>
        </p:nvSpPr>
        <p:spPr>
          <a:xfrm>
            <a:off x="502920" y="2834640"/>
            <a:ext cx="101486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4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bacterial recombination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7276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BFA4CA2-121B-C5C2-5EC2-0012629933AA}"/>
              </a:ext>
            </a:extLst>
          </p:cNvPr>
          <p:cNvSpPr txBox="1"/>
          <p:nvPr/>
        </p:nvSpPr>
        <p:spPr>
          <a:xfrm>
            <a:off x="3623541" y="1536104"/>
            <a:ext cx="5042454" cy="47397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600" b="1" i="0" dirty="0">
                <a:solidFill>
                  <a:srgbClr val="065A82"/>
                </a:solidFill>
                <a:latin typeface="Cambria" panose="02040503050406030204" pitchFamily="18" charset="0"/>
              </a:rPr>
              <a:t>Horizontal </a:t>
            </a:r>
            <a:r>
              <a:rPr lang="en-US" sz="2600" b="1" i="0" dirty="0">
                <a:solidFill>
                  <a:srgbClr val="065A82"/>
                </a:solidFill>
                <a:latin typeface="Cambria" panose="02040503050406030204" pitchFamily="18" charset="0"/>
              </a:rPr>
              <a:t>G</a:t>
            </a:r>
            <a:r>
              <a:rPr sz="2600" b="1" i="0" dirty="0">
                <a:solidFill>
                  <a:srgbClr val="065A82"/>
                </a:solidFill>
                <a:latin typeface="Cambria" panose="02040503050406030204" pitchFamily="18" charset="0"/>
              </a:rPr>
              <a:t>ene </a:t>
            </a:r>
            <a:r>
              <a:rPr lang="en-US" sz="2600" b="1" i="0" dirty="0">
                <a:solidFill>
                  <a:srgbClr val="065A82"/>
                </a:solidFill>
                <a:latin typeface="Cambria" panose="02040503050406030204" pitchFamily="18" charset="0"/>
              </a:rPr>
              <a:t>T</a:t>
            </a:r>
            <a:r>
              <a:rPr sz="2600" b="1" i="0" dirty="0">
                <a:solidFill>
                  <a:srgbClr val="065A82"/>
                </a:solidFill>
                <a:latin typeface="Cambria" panose="02040503050406030204" pitchFamily="18" charset="0"/>
              </a:rPr>
              <a:t>ransfer</a:t>
            </a:r>
            <a:r>
              <a:rPr lang="en-US" sz="2600" b="1" i="0" dirty="0">
                <a:solidFill>
                  <a:srgbClr val="065A82"/>
                </a:solidFill>
                <a:latin typeface="Cambria" panose="02040503050406030204" pitchFamily="18" charset="0"/>
              </a:rPr>
              <a:t> (HGT)</a:t>
            </a:r>
            <a:endParaRPr sz="2600" b="1" i="0" dirty="0">
              <a:solidFill>
                <a:srgbClr val="065A82"/>
              </a:solidFill>
              <a:latin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5EE43F-61A7-6949-8F3B-2428F8C3B2D4}"/>
              </a:ext>
            </a:extLst>
          </p:cNvPr>
          <p:cNvSpPr/>
          <p:nvPr/>
        </p:nvSpPr>
        <p:spPr>
          <a:xfrm>
            <a:off x="411480" y="2366315"/>
            <a:ext cx="3657600" cy="1085064"/>
          </a:xfrm>
          <a:prstGeom prst="rect">
            <a:avLst/>
          </a:prstGeom>
          <a:solidFill>
            <a:srgbClr val="FFFFFF"/>
          </a:solidFill>
          <a:ln w="9525">
            <a:solidFill>
              <a:srgbClr val="EEF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3F48C6-8645-DB53-BE6F-61A5F71E7489}"/>
              </a:ext>
            </a:extLst>
          </p:cNvPr>
          <p:cNvSpPr/>
          <p:nvPr/>
        </p:nvSpPr>
        <p:spPr>
          <a:xfrm>
            <a:off x="411480" y="2366315"/>
            <a:ext cx="73152" cy="108506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EA0F11-33AB-E34B-DB88-2C8656E73E0F}"/>
              </a:ext>
            </a:extLst>
          </p:cNvPr>
          <p:cNvSpPr txBox="1"/>
          <p:nvPr/>
        </p:nvSpPr>
        <p:spPr>
          <a:xfrm>
            <a:off x="612648" y="2439467"/>
            <a:ext cx="3383280" cy="3816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000" b="1" i="0" dirty="0">
                <a:solidFill>
                  <a:srgbClr val="065A82"/>
                </a:solidFill>
                <a:latin typeface="Cambria" panose="02040503050406030204" pitchFamily="18" charset="0"/>
              </a:rPr>
              <a:t>Transformation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BCA129-5B33-9709-8ED9-045C62E1A608}"/>
              </a:ext>
            </a:extLst>
          </p:cNvPr>
          <p:cNvSpPr txBox="1"/>
          <p:nvPr/>
        </p:nvSpPr>
        <p:spPr>
          <a:xfrm>
            <a:off x="612648" y="2786444"/>
            <a:ext cx="3383280" cy="6894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000" b="0" i="0" dirty="0">
                <a:solidFill>
                  <a:srgbClr val="1E293B"/>
                </a:solidFill>
                <a:latin typeface="Cambria" panose="02040503050406030204" pitchFamily="18" charset="0"/>
              </a:rPr>
              <a:t>Bacterium takes up naked DNA from the environment.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F6C26D-C812-35A5-E446-05CBD2F0B27C}"/>
              </a:ext>
            </a:extLst>
          </p:cNvPr>
          <p:cNvSpPr/>
          <p:nvPr/>
        </p:nvSpPr>
        <p:spPr>
          <a:xfrm>
            <a:off x="4251960" y="2366315"/>
            <a:ext cx="3657600" cy="1059042"/>
          </a:xfrm>
          <a:prstGeom prst="rect">
            <a:avLst/>
          </a:prstGeom>
          <a:solidFill>
            <a:srgbClr val="FFFFFF"/>
          </a:solidFill>
          <a:ln w="9525">
            <a:solidFill>
              <a:srgbClr val="EEF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AEEE1F-1129-5844-CE4B-57B95D340EE3}"/>
              </a:ext>
            </a:extLst>
          </p:cNvPr>
          <p:cNvSpPr/>
          <p:nvPr/>
        </p:nvSpPr>
        <p:spPr>
          <a:xfrm>
            <a:off x="4251960" y="2366315"/>
            <a:ext cx="73152" cy="108506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69C10D-91F9-2909-9876-B621CF9EA785}"/>
              </a:ext>
            </a:extLst>
          </p:cNvPr>
          <p:cNvSpPr txBox="1"/>
          <p:nvPr/>
        </p:nvSpPr>
        <p:spPr>
          <a:xfrm>
            <a:off x="4453128" y="2439467"/>
            <a:ext cx="3383280" cy="3816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000" b="1" i="0" dirty="0">
                <a:solidFill>
                  <a:srgbClr val="065A82"/>
                </a:solidFill>
                <a:latin typeface="Cambria" panose="02040503050406030204" pitchFamily="18" charset="0"/>
              </a:rPr>
              <a:t>Conjugation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C30BDB-3A9A-ADB9-038E-7EEDEB519B94}"/>
              </a:ext>
            </a:extLst>
          </p:cNvPr>
          <p:cNvSpPr txBox="1"/>
          <p:nvPr/>
        </p:nvSpPr>
        <p:spPr>
          <a:xfrm>
            <a:off x="4453128" y="2852543"/>
            <a:ext cx="3383280" cy="3816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lang="en-US" sz="2000" b="0" i="0" dirty="0">
                <a:solidFill>
                  <a:srgbClr val="1E293B"/>
                </a:solidFill>
                <a:latin typeface="Cambria" panose="02040503050406030204" pitchFamily="18" charset="0"/>
              </a:rPr>
              <a:t>Direct cell-to-cell contact</a:t>
            </a:r>
            <a:endParaRPr sz="2000" b="0" i="0" dirty="0">
              <a:solidFill>
                <a:srgbClr val="1E293B"/>
              </a:solidFill>
              <a:latin typeface="Cambria" panose="020405030504060302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F880F7-FFD8-A57C-2463-A5BB2DB5D8E3}"/>
              </a:ext>
            </a:extLst>
          </p:cNvPr>
          <p:cNvSpPr/>
          <p:nvPr/>
        </p:nvSpPr>
        <p:spPr>
          <a:xfrm>
            <a:off x="8092440" y="2366315"/>
            <a:ext cx="3657600" cy="1030467"/>
          </a:xfrm>
          <a:prstGeom prst="rect">
            <a:avLst/>
          </a:prstGeom>
          <a:solidFill>
            <a:srgbClr val="FFFFFF"/>
          </a:solidFill>
          <a:ln w="9525">
            <a:solidFill>
              <a:srgbClr val="EEF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C87AFD-DAB4-13A2-90B5-336EF8D41D61}"/>
              </a:ext>
            </a:extLst>
          </p:cNvPr>
          <p:cNvSpPr/>
          <p:nvPr/>
        </p:nvSpPr>
        <p:spPr>
          <a:xfrm>
            <a:off x="8092440" y="2366315"/>
            <a:ext cx="64008" cy="105904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5ECBF-60D3-A12B-4EAF-699520ADE5ED}"/>
              </a:ext>
            </a:extLst>
          </p:cNvPr>
          <p:cNvSpPr txBox="1"/>
          <p:nvPr/>
        </p:nvSpPr>
        <p:spPr>
          <a:xfrm>
            <a:off x="8293608" y="2439467"/>
            <a:ext cx="3383280" cy="3816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000" b="1" i="0" dirty="0">
                <a:solidFill>
                  <a:srgbClr val="065A82"/>
                </a:solidFill>
                <a:latin typeface="Cambria" panose="02040503050406030204" pitchFamily="18" charset="0"/>
              </a:rPr>
              <a:t>Transduction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814587-C421-E2BC-3850-86B3E596D239}"/>
              </a:ext>
            </a:extLst>
          </p:cNvPr>
          <p:cNvSpPr txBox="1"/>
          <p:nvPr/>
        </p:nvSpPr>
        <p:spPr>
          <a:xfrm>
            <a:off x="8229600" y="2854292"/>
            <a:ext cx="3383280" cy="6894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000" b="0" i="0" dirty="0">
                <a:solidFill>
                  <a:srgbClr val="1E293B"/>
                </a:solidFill>
                <a:latin typeface="Cambria" panose="02040503050406030204" pitchFamily="18" charset="0"/>
              </a:rPr>
              <a:t>Phage-mediated DNA transfer.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A3056D-BFA5-239D-40A3-CD82ACF03B6F}"/>
              </a:ext>
            </a:extLst>
          </p:cNvPr>
          <p:cNvSpPr/>
          <p:nvPr/>
        </p:nvSpPr>
        <p:spPr>
          <a:xfrm>
            <a:off x="334620" y="5960622"/>
            <a:ext cx="1133856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8ED7F-846F-531F-4D4D-3BE186C041AF}"/>
              </a:ext>
            </a:extLst>
          </p:cNvPr>
          <p:cNvSpPr txBox="1"/>
          <p:nvPr/>
        </p:nvSpPr>
        <p:spPr>
          <a:xfrm>
            <a:off x="338328" y="5998400"/>
            <a:ext cx="11338560" cy="381643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mbria" panose="02040503050406030204" pitchFamily="18" charset="0"/>
              </a:rPr>
              <a:t>…and then what? </a:t>
            </a:r>
            <a:r>
              <a:rPr lang="en-US" sz="2000" b="1" i="0" dirty="0">
                <a:solidFill>
                  <a:srgbClr val="FFFFFF"/>
                </a:solidFill>
                <a:latin typeface="Cambria" panose="02040503050406030204" pitchFamily="18" charset="0"/>
              </a:rPr>
              <a:t>HGT gets you foreign DNA. R</a:t>
            </a:r>
            <a:r>
              <a:rPr sz="2000" b="1" i="0" dirty="0">
                <a:solidFill>
                  <a:srgbClr val="FFFFFF"/>
                </a:solidFill>
                <a:latin typeface="Cambria" panose="02040503050406030204" pitchFamily="18" charset="0"/>
              </a:rPr>
              <a:t>ecombination </a:t>
            </a:r>
            <a:r>
              <a:rPr lang="en-US" sz="2000" b="1" i="0" dirty="0">
                <a:solidFill>
                  <a:srgbClr val="FFFFFF"/>
                </a:solidFill>
                <a:latin typeface="Cambria" panose="02040503050406030204" pitchFamily="18" charset="0"/>
              </a:rPr>
              <a:t>may </a:t>
            </a:r>
            <a:r>
              <a:rPr sz="2000" b="1" i="0" dirty="0">
                <a:solidFill>
                  <a:srgbClr val="FFFFFF"/>
                </a:solidFill>
                <a:latin typeface="Cambria" panose="02040503050406030204" pitchFamily="18" charset="0"/>
              </a:rPr>
              <a:t>swap it into the chromosome.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F1CCF2-44A1-74F6-31A5-A3AEB58A5C39}"/>
              </a:ext>
            </a:extLst>
          </p:cNvPr>
          <p:cNvSpPr txBox="1"/>
          <p:nvPr/>
        </p:nvSpPr>
        <p:spPr>
          <a:xfrm>
            <a:off x="11369040" y="8131982"/>
            <a:ext cx="822960" cy="21236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mbria" panose="02040503050406030204" pitchFamily="18" charset="0"/>
              </a:rPr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24830D-FFBE-0DD7-791F-EDD7442E070E}"/>
              </a:ext>
            </a:extLst>
          </p:cNvPr>
          <p:cNvSpPr txBox="1"/>
          <p:nvPr/>
        </p:nvSpPr>
        <p:spPr>
          <a:xfrm>
            <a:off x="316332" y="468817"/>
            <a:ext cx="9670028" cy="50475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065A82"/>
                </a:solidFill>
                <a:latin typeface="Cambria" panose="02040503050406030204" pitchFamily="18" charset="0"/>
              </a:rPr>
              <a:t>First, how does bacteria acquire foreign DNA…..</a:t>
            </a:r>
            <a:endParaRPr sz="2800" b="1" i="0" dirty="0">
              <a:solidFill>
                <a:srgbClr val="065A82"/>
              </a:solidFill>
              <a:latin typeface="Cambria" panose="02040503050406030204" pitchFamily="18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B263521-8F0B-9597-31FE-8C4208FA8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57" y="3776950"/>
            <a:ext cx="2483595" cy="129227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595E9AF-4309-1ACC-CA05-819807F72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900" y="3832851"/>
            <a:ext cx="3986017" cy="106924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D12BEFA-E7E9-D204-FC62-BED64865F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600" y="3512238"/>
            <a:ext cx="50800" cy="381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D864876-24F1-ADAD-07F9-1E9A24C08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550" y="3619160"/>
            <a:ext cx="88900" cy="254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D80881D-6096-BF19-B9C3-9561DFD827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3721" y="3544286"/>
            <a:ext cx="3087954" cy="129476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902833BB-69B9-625C-A190-4526DF3E72BE}"/>
              </a:ext>
            </a:extLst>
          </p:cNvPr>
          <p:cNvSpPr txBox="1"/>
          <p:nvPr/>
        </p:nvSpPr>
        <p:spPr>
          <a:xfrm>
            <a:off x="7100494" y="5032588"/>
            <a:ext cx="30879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</a:rPr>
              <a:t>Burmeister 2015, PMID: 26224621</a:t>
            </a:r>
          </a:p>
        </p:txBody>
      </p:sp>
    </p:spTree>
    <p:extLst>
      <p:ext uri="{BB962C8B-B14F-4D97-AF65-F5344CB8AC3E}">
        <p14:creationId xmlns:p14="http://schemas.microsoft.com/office/powerpoint/2010/main" val="252597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19" grpId="0"/>
      <p:bldP spid="20" grpId="0"/>
      <p:bldP spid="21" grpId="0" animBg="1"/>
      <p:bldP spid="22" grpId="0"/>
      <p:bldP spid="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B18D82-8562-F644-6FE9-98FF4074C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FF781242-4986-E82E-28E6-19ECB46D67FC}"/>
              </a:ext>
            </a:extLst>
          </p:cNvPr>
          <p:cNvSpPr/>
          <p:nvPr/>
        </p:nvSpPr>
        <p:spPr>
          <a:xfrm>
            <a:off x="518160" y="551727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bacterial recombination?</a:t>
            </a:r>
            <a:endParaRPr lang="en-US" sz="28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AE104D1C-9FB6-8142-3E1C-90724807BB69}"/>
              </a:ext>
            </a:extLst>
          </p:cNvPr>
          <p:cNvSpPr/>
          <p:nvPr/>
        </p:nvSpPr>
        <p:spPr>
          <a:xfrm>
            <a:off x="502920" y="1538514"/>
            <a:ext cx="11155680" cy="5045166"/>
          </a:xfrm>
          <a:prstGeom prst="roundRect">
            <a:avLst>
              <a:gd name="adj" fmla="val 1978"/>
            </a:avLst>
          </a:prstGeom>
          <a:solidFill>
            <a:srgbClr val="FDFEFA"/>
          </a:solidFill>
          <a:ln/>
        </p:spPr>
        <p:txBody>
          <a:bodyPr/>
          <a:lstStyle/>
          <a:p>
            <a:endParaRPr lang="en-US" sz="2000">
              <a:latin typeface="Cambria" panose="020405030504060302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632DE66-C55E-8B6F-2297-417E6C6B6E45}"/>
              </a:ext>
            </a:extLst>
          </p:cNvPr>
          <p:cNvSpPr/>
          <p:nvPr/>
        </p:nvSpPr>
        <p:spPr>
          <a:xfrm>
            <a:off x="777240" y="1757391"/>
            <a:ext cx="10268712" cy="208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2000" b="1" dirty="0">
                <a:solidFill>
                  <a:srgbClr val="0E7C8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Recombination</a:t>
            </a:r>
            <a:r>
              <a:rPr lang="en-US" sz="2000" dirty="0">
                <a:solidFill>
                  <a:srgbClr val="14243D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= the process by which a stretch of DNA in one bacterium is replaced by, or joined to, DNA from another source, producing a new combination of genetic material not present in either parent alone.
The result is a </a:t>
            </a:r>
            <a:r>
              <a:rPr lang="en-US" sz="2000" b="1" dirty="0">
                <a:solidFill>
                  <a:srgbClr val="14243D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mosaic genome</a:t>
            </a:r>
            <a:r>
              <a:rPr lang="en-US" sz="2000" dirty="0">
                <a:solidFill>
                  <a:srgbClr val="14243D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: different regions have different ancestral histories.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3B6332A-1ACD-0AEA-283E-A35979382C64}"/>
              </a:ext>
            </a:extLst>
          </p:cNvPr>
          <p:cNvSpPr/>
          <p:nvPr/>
        </p:nvSpPr>
        <p:spPr>
          <a:xfrm>
            <a:off x="777240" y="404752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4593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Not the same as mutation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DEDE9F8-84E2-F4C3-C3F7-A4D2E0EE207C}"/>
              </a:ext>
            </a:extLst>
          </p:cNvPr>
          <p:cNvSpPr/>
          <p:nvPr/>
        </p:nvSpPr>
        <p:spPr>
          <a:xfrm>
            <a:off x="777239" y="4837098"/>
            <a:ext cx="10268711" cy="148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2000" b="1" dirty="0">
                <a:solidFill>
                  <a:srgbClr val="14243D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Mutation</a:t>
            </a:r>
            <a:r>
              <a:rPr lang="en-US" sz="2000" dirty="0">
                <a:solidFill>
                  <a:srgbClr val="14243D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changes DNA one base at a time, gradually.
</a:t>
            </a:r>
            <a:r>
              <a:rPr lang="en-US" sz="2000" b="1" dirty="0">
                <a:solidFill>
                  <a:srgbClr val="14243D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Recombination</a:t>
            </a:r>
            <a:r>
              <a:rPr lang="en-US" sz="2000" dirty="0">
                <a:solidFill>
                  <a:srgbClr val="14243D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moves whole blocks of DNA in a single event so it can change tens to hundreds of positions at once.
</a:t>
            </a:r>
            <a:endParaRPr lang="en-US" sz="20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836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4C904-0C7C-326F-BF35-88B5E4890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">
            <a:extLst>
              <a:ext uri="{FF2B5EF4-FFF2-40B4-BE49-F238E27FC236}">
                <a16:creationId xmlns:a16="http://schemas.microsoft.com/office/drawing/2014/main" id="{3EA3D566-AE91-570C-11D0-0EFA41A04DEE}"/>
              </a:ext>
            </a:extLst>
          </p:cNvPr>
          <p:cNvSpPr/>
          <p:nvPr/>
        </p:nvSpPr>
        <p:spPr>
          <a:xfrm>
            <a:off x="502508" y="42139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recombination</a:t>
            </a:r>
            <a:endParaRPr lang="en-US" sz="290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EE294542-F404-514C-B34D-6E60BC2B28CC}"/>
              </a:ext>
            </a:extLst>
          </p:cNvPr>
          <p:cNvSpPr/>
          <p:nvPr/>
        </p:nvSpPr>
        <p:spPr>
          <a:xfrm>
            <a:off x="533812" y="1718426"/>
            <a:ext cx="3611880" cy="3694796"/>
          </a:xfrm>
          <a:prstGeom prst="roundRect">
            <a:avLst>
              <a:gd name="adj" fmla="val 2278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1598BA9C-D174-D7BD-5070-B9C24AD19784}"/>
              </a:ext>
            </a:extLst>
          </p:cNvPr>
          <p:cNvSpPr/>
          <p:nvPr/>
        </p:nvSpPr>
        <p:spPr>
          <a:xfrm>
            <a:off x="777240" y="197507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Homologous</a:t>
            </a:r>
            <a:endParaRPr lang="en-US" sz="20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7C36654D-3799-E1AE-8585-23725BFCC19E}"/>
              </a:ext>
            </a:extLst>
          </p:cNvPr>
          <p:cNvSpPr/>
          <p:nvPr/>
        </p:nvSpPr>
        <p:spPr>
          <a:xfrm>
            <a:off x="777240" y="2532862"/>
            <a:ext cx="265752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SIMILARITY</a:t>
            </a:r>
            <a:endParaRPr lang="en-US" sz="20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7A3674BB-B1F4-ED75-A07E-5F40E239189E}"/>
              </a:ext>
            </a:extLst>
          </p:cNvPr>
          <p:cNvSpPr/>
          <p:nvPr/>
        </p:nvSpPr>
        <p:spPr>
          <a:xfrm>
            <a:off x="777240" y="2944342"/>
            <a:ext cx="3063240" cy="21485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4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between near-identical sequences. 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000" dirty="0">
              <a:solidFill>
                <a:srgbClr val="1424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14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force reshaping the bacterial core genomes</a:t>
            </a:r>
            <a:endParaRPr lang="en-US" sz="2000" dirty="0"/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8F1C6DFB-1627-230C-CB40-9EC988CF0274}"/>
              </a:ext>
            </a:extLst>
          </p:cNvPr>
          <p:cNvSpPr/>
          <p:nvPr/>
        </p:nvSpPr>
        <p:spPr>
          <a:xfrm>
            <a:off x="533812" y="6152365"/>
            <a:ext cx="11219688" cy="407444"/>
          </a:xfrm>
          <a:prstGeom prst="roundRect">
            <a:avLst>
              <a:gd name="adj" fmla="val 12000"/>
            </a:avLst>
          </a:prstGeom>
          <a:solidFill>
            <a:srgbClr val="E1E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97B4D503-4663-4E86-6FCA-2A0089087223}"/>
              </a:ext>
            </a:extLst>
          </p:cNvPr>
          <p:cNvSpPr/>
          <p:nvPr/>
        </p:nvSpPr>
        <p:spPr>
          <a:xfrm>
            <a:off x="683864" y="6110599"/>
            <a:ext cx="109743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4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***When bioinformaticians say 'recombination' in phylogenetics, they almost always mean the homologous kind.***</a:t>
            </a:r>
            <a:endParaRPr lang="en-US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6F69FF6-E551-F9A2-C257-9728CCDE1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59295"/>
            <a:ext cx="7772400" cy="2373451"/>
          </a:xfrm>
          <a:prstGeom prst="rect">
            <a:avLst/>
          </a:prstGeom>
          <a:ln w="9525">
            <a:solidFill>
              <a:schemeClr val="bg1"/>
            </a:solidFill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45A247E-17FE-8BB4-A437-EE761F732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629732"/>
            <a:ext cx="6003110" cy="1118314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2C03451-ECE8-1D2C-62EC-86BE313F44F6}"/>
              </a:ext>
            </a:extLst>
          </p:cNvPr>
          <p:cNvCxnSpPr>
            <a:cxnSpLocks/>
          </p:cNvCxnSpPr>
          <p:nvPr/>
        </p:nvCxnSpPr>
        <p:spPr>
          <a:xfrm>
            <a:off x="7779657" y="3805316"/>
            <a:ext cx="0" cy="7376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42A0E6B-DD46-C844-AAE0-FDA0FA45D294}"/>
              </a:ext>
            </a:extLst>
          </p:cNvPr>
          <p:cNvSpPr txBox="1"/>
          <p:nvPr/>
        </p:nvSpPr>
        <p:spPr>
          <a:xfrm>
            <a:off x="9733676" y="3990180"/>
            <a:ext cx="20198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</a:rPr>
              <a:t>Chakravarty, </a:t>
            </a:r>
            <a:r>
              <a:rPr lang="en-US" sz="1200" dirty="0" err="1">
                <a:solidFill>
                  <a:schemeClr val="bg1"/>
                </a:solidFill>
                <a:latin typeface="Cambria" panose="02040503050406030204" pitchFamily="18" charset="0"/>
              </a:rPr>
              <a:t>goldbio.com</a:t>
            </a:r>
            <a:endParaRPr lang="en-US" sz="12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067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6045A-7447-9C09-D574-D82EA9EEA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">
            <a:extLst>
              <a:ext uri="{FF2B5EF4-FFF2-40B4-BE49-F238E27FC236}">
                <a16:creationId xmlns:a16="http://schemas.microsoft.com/office/drawing/2014/main" id="{7716DFBF-CA68-2C10-977A-50835C16AC31}"/>
              </a:ext>
            </a:extLst>
          </p:cNvPr>
          <p:cNvSpPr/>
          <p:nvPr/>
        </p:nvSpPr>
        <p:spPr>
          <a:xfrm>
            <a:off x="502508" y="508482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recombination (contd.)</a:t>
            </a:r>
            <a:endParaRPr lang="en-US" sz="290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09079F67-AB1D-7F2B-8843-B02DF5038BA6}"/>
              </a:ext>
            </a:extLst>
          </p:cNvPr>
          <p:cNvSpPr/>
          <p:nvPr/>
        </p:nvSpPr>
        <p:spPr>
          <a:xfrm>
            <a:off x="1148662" y="1707726"/>
            <a:ext cx="3537637" cy="3867574"/>
          </a:xfrm>
          <a:prstGeom prst="roundRect">
            <a:avLst>
              <a:gd name="adj" fmla="val 2278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A1830C2E-B04B-E4D6-3FD9-DCEE5FF54EA7}"/>
              </a:ext>
            </a:extLst>
          </p:cNvPr>
          <p:cNvSpPr/>
          <p:nvPr/>
        </p:nvSpPr>
        <p:spPr>
          <a:xfrm>
            <a:off x="1422983" y="201862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Site-specific</a:t>
            </a:r>
            <a:endParaRPr lang="en-US" sz="20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54CBAEFE-A3E7-A571-BD13-AB5C1B5949E1}"/>
              </a:ext>
            </a:extLst>
          </p:cNvPr>
          <p:cNvSpPr/>
          <p:nvPr/>
        </p:nvSpPr>
        <p:spPr>
          <a:xfrm>
            <a:off x="1422983" y="2576406"/>
            <a:ext cx="26956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E45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SITES</a:t>
            </a:r>
            <a:endParaRPr lang="en-US" sz="200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67FA2ABD-F4BC-53AE-D04F-CD910CC72177}"/>
              </a:ext>
            </a:extLst>
          </p:cNvPr>
          <p:cNvSpPr/>
          <p:nvPr/>
        </p:nvSpPr>
        <p:spPr>
          <a:xfrm>
            <a:off x="1422983" y="2987886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4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at specific short recognition sequences, catalysed by dedicated recombinases (e.g., phage integration, integrons).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D01A3-FA35-F9B7-CAD9-AD7E576A2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184" y="1285722"/>
            <a:ext cx="4825231" cy="40884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CD8831-7F84-3349-153E-38ECE509BE12}"/>
              </a:ext>
            </a:extLst>
          </p:cNvPr>
          <p:cNvSpPr txBox="1"/>
          <p:nvPr/>
        </p:nvSpPr>
        <p:spPr>
          <a:xfrm>
            <a:off x="7688391" y="5776366"/>
            <a:ext cx="28780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</a:rPr>
              <a:t>Duyne and Landy, 2024: PMID:38372210</a:t>
            </a:r>
          </a:p>
        </p:txBody>
      </p:sp>
    </p:spTree>
    <p:extLst>
      <p:ext uri="{BB962C8B-B14F-4D97-AF65-F5344CB8AC3E}">
        <p14:creationId xmlns:p14="http://schemas.microsoft.com/office/powerpoint/2010/main" val="1074746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EB36BD-D5D8-1237-8067-20D90A920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">
            <a:extLst>
              <a:ext uri="{FF2B5EF4-FFF2-40B4-BE49-F238E27FC236}">
                <a16:creationId xmlns:a16="http://schemas.microsoft.com/office/drawing/2014/main" id="{AE62DF57-570F-AB9B-F344-2E068ECE58CE}"/>
              </a:ext>
            </a:extLst>
          </p:cNvPr>
          <p:cNvSpPr/>
          <p:nvPr/>
        </p:nvSpPr>
        <p:spPr>
          <a:xfrm>
            <a:off x="502508" y="508482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3D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Types of recombination (contd.)</a:t>
            </a:r>
            <a:endParaRPr lang="en-US" sz="2900" dirty="0">
              <a:latin typeface="Cambria" panose="02040503050406030204" pitchFamily="18" charset="0"/>
            </a:endParaRPr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F1C9308F-23DB-926E-B076-576D4ECB7CE6}"/>
              </a:ext>
            </a:extLst>
          </p:cNvPr>
          <p:cNvSpPr/>
          <p:nvPr/>
        </p:nvSpPr>
        <p:spPr>
          <a:xfrm>
            <a:off x="1101454" y="1566324"/>
            <a:ext cx="3809981" cy="3309948"/>
          </a:xfrm>
          <a:prstGeom prst="roundRect">
            <a:avLst>
              <a:gd name="adj" fmla="val 2278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E7BE1C7D-2F94-028E-31C4-68AA6B6B753A}"/>
              </a:ext>
            </a:extLst>
          </p:cNvPr>
          <p:cNvSpPr/>
          <p:nvPr/>
        </p:nvSpPr>
        <p:spPr>
          <a:xfrm>
            <a:off x="1552441" y="1849261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43D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Illegitimate / NHEJ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BB1B965E-16D5-6D40-BF6F-94D5C403C0A7}"/>
              </a:ext>
            </a:extLst>
          </p:cNvPr>
          <p:cNvSpPr/>
          <p:nvPr/>
        </p:nvSpPr>
        <p:spPr>
          <a:xfrm>
            <a:off x="1258013" y="243500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E2A33B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LITTLE/NO SIMILARITY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7867D664-44A7-06F6-AAA2-1F2B0B4D48D9}"/>
              </a:ext>
            </a:extLst>
          </p:cNvPr>
          <p:cNvSpPr/>
          <p:nvPr/>
        </p:nvSpPr>
        <p:spPr>
          <a:xfrm>
            <a:off x="1375775" y="2846484"/>
            <a:ext cx="3219798" cy="16501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4243D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Joining of largely unrelated sequences. Rarer, often mediated by transposons or error-prone repair.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EB6F8A-AFB9-1C11-E98F-99B7A64AB492}"/>
              </a:ext>
            </a:extLst>
          </p:cNvPr>
          <p:cNvSpPr txBox="1"/>
          <p:nvPr/>
        </p:nvSpPr>
        <p:spPr>
          <a:xfrm>
            <a:off x="964975" y="5499119"/>
            <a:ext cx="4238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NHEJ – Non-homologous end joining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A6A29A-C906-B8A6-7C67-1172986E2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414" y="1430598"/>
            <a:ext cx="25146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034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C3D4B6-6725-49D1-353F-3B58D73B4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CC2B843-6F32-08FE-3B12-5525BD50DDE7}"/>
              </a:ext>
            </a:extLst>
          </p:cNvPr>
          <p:cNvSpPr txBox="1"/>
          <p:nvPr/>
        </p:nvSpPr>
        <p:spPr>
          <a:xfrm>
            <a:off x="320040" y="256032"/>
            <a:ext cx="9601200" cy="50475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065A82"/>
                </a:solidFill>
                <a:latin typeface="Cambria" panose="02040503050406030204" pitchFamily="18" charset="0"/>
              </a:rPr>
              <a:t>What recombination does to a phylogeny</a:t>
            </a:r>
            <a:endParaRPr sz="2800" b="1" i="0" dirty="0">
              <a:solidFill>
                <a:srgbClr val="065A82"/>
              </a:solidFill>
              <a:latin typeface="Cambria" panose="0204050305040603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4EC822-DBA0-A3C8-8836-E8555E155286}"/>
              </a:ext>
            </a:extLst>
          </p:cNvPr>
          <p:cNvSpPr txBox="1"/>
          <p:nvPr/>
        </p:nvSpPr>
        <p:spPr>
          <a:xfrm>
            <a:off x="430930" y="1045879"/>
            <a:ext cx="5994401" cy="3858236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dirty="0">
                <a:solidFill>
                  <a:schemeClr val="bg1"/>
                </a:solidFill>
                <a:latin typeface="Cambria" panose="02040503050406030204" pitchFamily="18" charset="0"/>
              </a:rPr>
              <a:t>•  Branches containing many recombination events become artificially long.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endParaRPr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dirty="0">
                <a:solidFill>
                  <a:schemeClr val="bg1"/>
                </a:solidFill>
                <a:latin typeface="Cambria" panose="02040503050406030204" pitchFamily="18" charset="0"/>
              </a:rPr>
              <a:t>•  Tree topology can be wrong: isolates cluster by shared imports, not ancestry.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endParaRPr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dirty="0">
                <a:solidFill>
                  <a:schemeClr val="bg1"/>
                </a:solidFill>
                <a:latin typeface="Cambria" panose="02040503050406030204" pitchFamily="18" charset="0"/>
              </a:rPr>
              <a:t>•  Molecular clock signal is corrupted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:</a:t>
            </a:r>
            <a:r>
              <a:rPr dirty="0">
                <a:solidFill>
                  <a:schemeClr val="bg1"/>
                </a:solidFill>
                <a:latin typeface="Cambria" panose="02040503050406030204" pitchFamily="18" charset="0"/>
              </a:rPr>
              <a:t> dating analyses (BEAST, </a:t>
            </a:r>
            <a:r>
              <a:rPr dirty="0" err="1">
                <a:solidFill>
                  <a:schemeClr val="bg1"/>
                </a:solidFill>
                <a:latin typeface="Cambria" panose="02040503050406030204" pitchFamily="18" charset="0"/>
              </a:rPr>
              <a:t>BactDating</a:t>
            </a:r>
            <a:r>
              <a:rPr dirty="0">
                <a:solidFill>
                  <a:schemeClr val="bg1"/>
                </a:solidFill>
                <a:latin typeface="Cambria" panose="02040503050406030204" pitchFamily="18" charset="0"/>
              </a:rPr>
              <a:t>) drif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t</a:t>
            </a:r>
            <a:r>
              <a:rPr dirty="0">
                <a:solidFill>
                  <a:schemeClr val="bg1"/>
                </a:solidFill>
                <a:latin typeface="Cambria" panose="02040503050406030204" pitchFamily="18" charset="0"/>
              </a:rPr>
              <a:t>.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endParaRPr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dirty="0">
                <a:solidFill>
                  <a:schemeClr val="bg1"/>
                </a:solidFill>
                <a:latin typeface="Cambria" panose="02040503050406030204" pitchFamily="18" charset="0"/>
              </a:rPr>
              <a:t>•  Ancestral state reconstruction on affected regions is unreliable.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200363-9248-3F2B-79B9-7775F96AB1CF}"/>
              </a:ext>
            </a:extLst>
          </p:cNvPr>
          <p:cNvSpPr/>
          <p:nvPr/>
        </p:nvSpPr>
        <p:spPr>
          <a:xfrm>
            <a:off x="6755240" y="838255"/>
            <a:ext cx="5242255" cy="5367528"/>
          </a:xfrm>
          <a:prstGeom prst="rect">
            <a:avLst/>
          </a:prstGeom>
          <a:solidFill>
            <a:srgbClr val="FFFFFF"/>
          </a:solidFill>
          <a:ln w="9525">
            <a:solidFill>
              <a:srgbClr val="EEF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F3A85F-4D15-DCA2-D001-32920CE83A1A}"/>
              </a:ext>
            </a:extLst>
          </p:cNvPr>
          <p:cNvSpPr txBox="1"/>
          <p:nvPr/>
        </p:nvSpPr>
        <p:spPr>
          <a:xfrm>
            <a:off x="6732671" y="895460"/>
            <a:ext cx="4754880" cy="35086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b="1" i="0">
                <a:solidFill>
                  <a:srgbClr val="065A82"/>
                </a:solidFill>
                <a:latin typeface="Cambria" panose="02040503050406030204" pitchFamily="18" charset="0"/>
              </a:rPr>
              <a:t>Raw tree  vs.  Recombination-masked tree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035833-1AF3-2B4C-023F-3543D32DB970}"/>
              </a:ext>
            </a:extLst>
          </p:cNvPr>
          <p:cNvSpPr/>
          <p:nvPr/>
        </p:nvSpPr>
        <p:spPr>
          <a:xfrm>
            <a:off x="7144151" y="1626980"/>
            <a:ext cx="12700" cy="29260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966C9C-E927-237D-EB08-69ABA053D840}"/>
              </a:ext>
            </a:extLst>
          </p:cNvPr>
          <p:cNvSpPr/>
          <p:nvPr/>
        </p:nvSpPr>
        <p:spPr>
          <a:xfrm>
            <a:off x="7144151" y="1901300"/>
            <a:ext cx="1645920" cy="12700"/>
          </a:xfrm>
          <a:prstGeom prst="rect">
            <a:avLst/>
          </a:prstGeom>
          <a:solidFill>
            <a:srgbClr val="B0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27DC15-0C24-9001-2578-87158A582F4B}"/>
              </a:ext>
            </a:extLst>
          </p:cNvPr>
          <p:cNvSpPr/>
          <p:nvPr/>
        </p:nvSpPr>
        <p:spPr>
          <a:xfrm>
            <a:off x="7144151" y="2632820"/>
            <a:ext cx="640080" cy="127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8B8659-AF94-D138-EEDE-C560D8DE5275}"/>
              </a:ext>
            </a:extLst>
          </p:cNvPr>
          <p:cNvSpPr/>
          <p:nvPr/>
        </p:nvSpPr>
        <p:spPr>
          <a:xfrm>
            <a:off x="7144151" y="3455780"/>
            <a:ext cx="1737360" cy="12700"/>
          </a:xfrm>
          <a:prstGeom prst="rect">
            <a:avLst/>
          </a:prstGeom>
          <a:solidFill>
            <a:srgbClr val="B0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A4BDA1-4040-0032-96B2-EA1FC039D572}"/>
              </a:ext>
            </a:extLst>
          </p:cNvPr>
          <p:cNvSpPr/>
          <p:nvPr/>
        </p:nvSpPr>
        <p:spPr>
          <a:xfrm>
            <a:off x="7144151" y="4187300"/>
            <a:ext cx="548640" cy="127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8E5E15-06F4-3303-3EFF-514EF917BDAF}"/>
              </a:ext>
            </a:extLst>
          </p:cNvPr>
          <p:cNvSpPr txBox="1"/>
          <p:nvPr/>
        </p:nvSpPr>
        <p:spPr>
          <a:xfrm>
            <a:off x="6778391" y="4644500"/>
            <a:ext cx="2286000" cy="35086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b="0" i="1">
                <a:solidFill>
                  <a:srgbClr val="64748B"/>
                </a:solidFill>
                <a:latin typeface="Cambria" panose="02040503050406030204" pitchFamily="18" charset="0"/>
              </a:rPr>
              <a:t>raw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B28A34-C916-AF5A-8E9A-4165EF9EAFB3}"/>
              </a:ext>
            </a:extLst>
          </p:cNvPr>
          <p:cNvSpPr/>
          <p:nvPr/>
        </p:nvSpPr>
        <p:spPr>
          <a:xfrm>
            <a:off x="9887351" y="1626980"/>
            <a:ext cx="12700" cy="29260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0B5CE8-F2D3-1766-D0A3-83ED27499540}"/>
              </a:ext>
            </a:extLst>
          </p:cNvPr>
          <p:cNvSpPr/>
          <p:nvPr/>
        </p:nvSpPr>
        <p:spPr>
          <a:xfrm>
            <a:off x="9887351" y="1901300"/>
            <a:ext cx="640080" cy="127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3BAC49-F846-F114-64AA-A11087E3E7FF}"/>
              </a:ext>
            </a:extLst>
          </p:cNvPr>
          <p:cNvSpPr/>
          <p:nvPr/>
        </p:nvSpPr>
        <p:spPr>
          <a:xfrm>
            <a:off x="9887351" y="2632820"/>
            <a:ext cx="548640" cy="127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6E9D1C-B24C-0D60-79A2-A91816A1FE0A}"/>
              </a:ext>
            </a:extLst>
          </p:cNvPr>
          <p:cNvSpPr/>
          <p:nvPr/>
        </p:nvSpPr>
        <p:spPr>
          <a:xfrm>
            <a:off x="9887351" y="3455780"/>
            <a:ext cx="731520" cy="127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81F8DE-D20D-0DFC-0F2E-A6858B2058AE}"/>
              </a:ext>
            </a:extLst>
          </p:cNvPr>
          <p:cNvSpPr/>
          <p:nvPr/>
        </p:nvSpPr>
        <p:spPr>
          <a:xfrm>
            <a:off x="9887351" y="4187300"/>
            <a:ext cx="548640" cy="127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D7359A-0DEA-B146-01AF-7552F3F3B6DF}"/>
              </a:ext>
            </a:extLst>
          </p:cNvPr>
          <p:cNvSpPr txBox="1"/>
          <p:nvPr/>
        </p:nvSpPr>
        <p:spPr>
          <a:xfrm>
            <a:off x="9635890" y="4655415"/>
            <a:ext cx="2286000" cy="35086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b="0" i="1" dirty="0">
                <a:solidFill>
                  <a:srgbClr val="2E7D32"/>
                </a:solidFill>
                <a:latin typeface="Cambria" panose="02040503050406030204" pitchFamily="18" charset="0"/>
              </a:rPr>
              <a:t>after masking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B6EB26-F164-3EF7-EBBF-A674A9FD46E2}"/>
              </a:ext>
            </a:extLst>
          </p:cNvPr>
          <p:cNvSpPr txBox="1"/>
          <p:nvPr/>
        </p:nvSpPr>
        <p:spPr>
          <a:xfrm>
            <a:off x="7167010" y="5450780"/>
            <a:ext cx="4754880" cy="62786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b="0" i="1" dirty="0">
                <a:solidFill>
                  <a:srgbClr val="64748B"/>
                </a:solidFill>
                <a:latin typeface="Cambria" panose="02040503050406030204" pitchFamily="18" charset="0"/>
              </a:rPr>
              <a:t>Red = branches inflated by recombination SNPs. After masking, the clonal signal emerges.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063DE1-EDB7-DA3A-08FA-BC866FB015E9}"/>
              </a:ext>
            </a:extLst>
          </p:cNvPr>
          <p:cNvSpPr txBox="1"/>
          <p:nvPr/>
        </p:nvSpPr>
        <p:spPr>
          <a:xfrm>
            <a:off x="453498" y="5728534"/>
            <a:ext cx="5684521" cy="365228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AAAAAAAAAAABBBBBBBBBBBBBBBCCCCCCCCCCCCC</a:t>
            </a:r>
            <a:endParaRPr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AD6A80E4-366C-FA99-68E4-7DB080EAEE9A}"/>
              </a:ext>
            </a:extLst>
          </p:cNvPr>
          <p:cNvSpPr/>
          <p:nvPr/>
        </p:nvSpPr>
        <p:spPr>
          <a:xfrm rot="5400000">
            <a:off x="1154261" y="5462380"/>
            <a:ext cx="365229" cy="1562583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D57DBBFB-97FC-78FC-5F8F-6D32E84E0C4A}"/>
              </a:ext>
            </a:extLst>
          </p:cNvPr>
          <p:cNvSpPr/>
          <p:nvPr/>
        </p:nvSpPr>
        <p:spPr>
          <a:xfrm rot="5400000">
            <a:off x="4802215" y="5452730"/>
            <a:ext cx="365229" cy="1562583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49215173-694D-1BE6-8111-8443BDE26F8E}"/>
              </a:ext>
            </a:extLst>
          </p:cNvPr>
          <p:cNvSpPr/>
          <p:nvPr/>
        </p:nvSpPr>
        <p:spPr>
          <a:xfrm rot="16200000">
            <a:off x="2949493" y="4515149"/>
            <a:ext cx="365229" cy="1976958"/>
          </a:xfrm>
          <a:prstGeom prst="rightBrac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C1C8A4-03F1-3483-0568-49D13FA27F5B}"/>
              </a:ext>
            </a:extLst>
          </p:cNvPr>
          <p:cNvSpPr txBox="1"/>
          <p:nvPr/>
        </p:nvSpPr>
        <p:spPr>
          <a:xfrm>
            <a:off x="2209638" y="4880529"/>
            <a:ext cx="199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Donor ancestry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661D4A-E989-4283-8CCC-432690B371FE}"/>
              </a:ext>
            </a:extLst>
          </p:cNvPr>
          <p:cNvSpPr txBox="1"/>
          <p:nvPr/>
        </p:nvSpPr>
        <p:spPr>
          <a:xfrm>
            <a:off x="497385" y="6406416"/>
            <a:ext cx="199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Original ancestry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4C13A7-681D-7902-D6ED-479FCE2226DA}"/>
              </a:ext>
            </a:extLst>
          </p:cNvPr>
          <p:cNvSpPr txBox="1"/>
          <p:nvPr/>
        </p:nvSpPr>
        <p:spPr>
          <a:xfrm>
            <a:off x="4002585" y="6378855"/>
            <a:ext cx="199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Original ancestry</a:t>
            </a:r>
          </a:p>
        </p:txBody>
      </p:sp>
    </p:spTree>
    <p:extLst>
      <p:ext uri="{BB962C8B-B14F-4D97-AF65-F5344CB8AC3E}">
        <p14:creationId xmlns:p14="http://schemas.microsoft.com/office/powerpoint/2010/main" val="738489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 animBg="1"/>
      <p:bldP spid="40" grpId="0" animBg="1"/>
      <p:bldP spid="44" grpId="0" animBg="1"/>
      <p:bldP spid="45" grpId="0"/>
      <p:bldP spid="46" grpId="0"/>
      <p:bldP spid="4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2ED98-6059-9BCB-4DCA-08EB0038B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C37C3663-292B-B4DA-A512-EDE8F6301801}"/>
              </a:ext>
            </a:extLst>
          </p:cNvPr>
          <p:cNvSpPr/>
          <p:nvPr/>
        </p:nvSpPr>
        <p:spPr>
          <a:xfrm>
            <a:off x="863040" y="1370457"/>
            <a:ext cx="5121010" cy="1054277"/>
          </a:xfrm>
          <a:prstGeom prst="roundRect">
            <a:avLst>
              <a:gd name="adj" fmla="val 4018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5AC841F2-AAB9-348E-8309-18A163AB9D19}"/>
              </a:ext>
            </a:extLst>
          </p:cNvPr>
          <p:cNvSpPr/>
          <p:nvPr/>
        </p:nvSpPr>
        <p:spPr>
          <a:xfrm>
            <a:off x="999830" y="1525055"/>
            <a:ext cx="658368" cy="658368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7E3726E9-AC8D-CC75-71D2-8264025B4A1D}"/>
              </a:ext>
            </a:extLst>
          </p:cNvPr>
          <p:cNvSpPr/>
          <p:nvPr/>
        </p:nvSpPr>
        <p:spPr>
          <a:xfrm>
            <a:off x="999830" y="150196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8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84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D865F92-9C92-02F6-01F5-118B042125BD}"/>
              </a:ext>
            </a:extLst>
          </p:cNvPr>
          <p:cNvSpPr/>
          <p:nvPr/>
        </p:nvSpPr>
        <p:spPr>
          <a:xfrm>
            <a:off x="2025724" y="1501966"/>
            <a:ext cx="32865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 damaged DNA</a:t>
            </a:r>
            <a:endParaRPr lang="en-US" sz="165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C7E46B0-61A8-36D4-E2E1-ED82FC758EA3}"/>
              </a:ext>
            </a:extLst>
          </p:cNvPr>
          <p:cNvSpPr/>
          <p:nvPr/>
        </p:nvSpPr>
        <p:spPr>
          <a:xfrm>
            <a:off x="6166560" y="1362576"/>
            <a:ext cx="5121010" cy="1044646"/>
          </a:xfrm>
          <a:prstGeom prst="roundRect">
            <a:avLst>
              <a:gd name="adj" fmla="val 4018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CB0C212A-6B64-F844-AB27-A043D0E57DB0}"/>
              </a:ext>
            </a:extLst>
          </p:cNvPr>
          <p:cNvSpPr/>
          <p:nvPr/>
        </p:nvSpPr>
        <p:spPr>
          <a:xfrm>
            <a:off x="6440880" y="1558806"/>
            <a:ext cx="658368" cy="658368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153230A5-BFBD-EB85-9304-B17BF042B6DE}"/>
              </a:ext>
            </a:extLst>
          </p:cNvPr>
          <p:cNvSpPr/>
          <p:nvPr/>
        </p:nvSpPr>
        <p:spPr>
          <a:xfrm>
            <a:off x="6440880" y="155880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8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84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1AD621B1-8C1C-6557-3BD7-37FB37C83841}"/>
              </a:ext>
            </a:extLst>
          </p:cNvPr>
          <p:cNvSpPr/>
          <p:nvPr/>
        </p:nvSpPr>
        <p:spPr>
          <a:xfrm>
            <a:off x="7263840" y="155880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Acquire new functions</a:t>
            </a:r>
            <a:endParaRPr lang="en-US" sz="165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3F4C70C8-6952-CDCF-2E0B-F35BF0A66704}"/>
              </a:ext>
            </a:extLst>
          </p:cNvPr>
          <p:cNvSpPr/>
          <p:nvPr/>
        </p:nvSpPr>
        <p:spPr>
          <a:xfrm>
            <a:off x="863040" y="3192095"/>
            <a:ext cx="5121010" cy="952956"/>
          </a:xfrm>
          <a:prstGeom prst="roundRect">
            <a:avLst>
              <a:gd name="adj" fmla="val 4018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BCE5AD87-4FFC-7C50-6124-DEBBFFA8BE73}"/>
              </a:ext>
            </a:extLst>
          </p:cNvPr>
          <p:cNvSpPr/>
          <p:nvPr/>
        </p:nvSpPr>
        <p:spPr>
          <a:xfrm>
            <a:off x="1137360" y="3278098"/>
            <a:ext cx="658368" cy="658368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96C145DD-F9FA-29AA-A682-58780D796262}"/>
              </a:ext>
            </a:extLst>
          </p:cNvPr>
          <p:cNvSpPr/>
          <p:nvPr/>
        </p:nvSpPr>
        <p:spPr>
          <a:xfrm>
            <a:off x="1137360" y="327809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8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84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E97499B5-98B8-9E99-3552-DA4E10E271EE}"/>
              </a:ext>
            </a:extLst>
          </p:cNvPr>
          <p:cNvSpPr/>
          <p:nvPr/>
        </p:nvSpPr>
        <p:spPr>
          <a:xfrm>
            <a:off x="2025724" y="3305513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diversity</a:t>
            </a:r>
            <a:endParaRPr lang="en-US" sz="1650" dirty="0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E761EC40-F6FF-9828-1CCE-B2F7F6C2E73D}"/>
              </a:ext>
            </a:extLst>
          </p:cNvPr>
          <p:cNvSpPr/>
          <p:nvPr/>
        </p:nvSpPr>
        <p:spPr>
          <a:xfrm>
            <a:off x="6166560" y="3174583"/>
            <a:ext cx="5121010" cy="952956"/>
          </a:xfrm>
          <a:prstGeom prst="roundRect">
            <a:avLst>
              <a:gd name="adj" fmla="val 4018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A7E08961-BA62-15D2-0CFE-0A239D81F7FD}"/>
              </a:ext>
            </a:extLst>
          </p:cNvPr>
          <p:cNvSpPr/>
          <p:nvPr/>
        </p:nvSpPr>
        <p:spPr>
          <a:xfrm>
            <a:off x="6411178" y="3356222"/>
            <a:ext cx="658368" cy="658368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D5B9DFFF-9E92-9494-D0AD-46C5A2EB1198}"/>
              </a:ext>
            </a:extLst>
          </p:cNvPr>
          <p:cNvSpPr/>
          <p:nvPr/>
        </p:nvSpPr>
        <p:spPr>
          <a:xfrm>
            <a:off x="6411178" y="335622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8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84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A5378C17-D69B-0DB0-B58A-95961E597CE7}"/>
              </a:ext>
            </a:extLst>
          </p:cNvPr>
          <p:cNvSpPr/>
          <p:nvPr/>
        </p:nvSpPr>
        <p:spPr>
          <a:xfrm>
            <a:off x="7234138" y="3356222"/>
            <a:ext cx="34374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Purge harmful mutations</a:t>
            </a:r>
            <a:endParaRPr lang="en-US" sz="1650" dirty="0"/>
          </a:p>
        </p:txBody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F768D75A-0FF9-CE49-FC71-5AD13C33A822}"/>
              </a:ext>
            </a:extLst>
          </p:cNvPr>
          <p:cNvSpPr/>
          <p:nvPr/>
        </p:nvSpPr>
        <p:spPr>
          <a:xfrm>
            <a:off x="4181993" y="4907600"/>
            <a:ext cx="3734934" cy="903521"/>
          </a:xfrm>
          <a:prstGeom prst="roundRect">
            <a:avLst>
              <a:gd name="adj" fmla="val 4018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86CBD959-1A31-592A-78D5-49EF15D90D88}"/>
              </a:ext>
            </a:extLst>
          </p:cNvPr>
          <p:cNvSpPr/>
          <p:nvPr/>
        </p:nvSpPr>
        <p:spPr>
          <a:xfrm>
            <a:off x="4949718" y="5039550"/>
            <a:ext cx="21994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Bacterial Evolution</a:t>
            </a:r>
            <a:endParaRPr lang="en-US" sz="1650" dirty="0"/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9FC134F3-F867-10FB-7607-EEBA80298436}"/>
              </a:ext>
            </a:extLst>
          </p:cNvPr>
          <p:cNvSpPr/>
          <p:nvPr/>
        </p:nvSpPr>
        <p:spPr>
          <a:xfrm>
            <a:off x="768223" y="200923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it happen? </a:t>
            </a:r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332774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24" grpId="0" animBg="1"/>
      <p:bldP spid="25" grpId="0" animBg="1"/>
      <p:bldP spid="26" grpId="0" animBg="1"/>
      <p:bldP spid="27" grpId="0" animBg="1"/>
      <p:bldP spid="35" grpId="0" animBg="1"/>
      <p:bldP spid="3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7C1D88-01A2-F987-50E0-51ECCD9C2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42AF1CB-FE19-E434-BC20-5D5E491A1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411" y="947928"/>
            <a:ext cx="5680446" cy="4962144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FF70A96-D1FC-333E-A878-FAC423C80E06}"/>
              </a:ext>
            </a:extLst>
          </p:cNvPr>
          <p:cNvSpPr/>
          <p:nvPr/>
        </p:nvSpPr>
        <p:spPr>
          <a:xfrm>
            <a:off x="312517" y="2016887"/>
            <a:ext cx="3993265" cy="282422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mbria" panose="02040503050406030204" pitchFamily="18" charset="0"/>
              </a:rPr>
              <a:t>Identify Host-donor gene sharing relationship</a:t>
            </a:r>
            <a:endParaRPr lang="en-US" sz="3200" i="1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540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665F08-883C-CDEC-4B6A-0DAE87B0C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A6C017AF-9203-207E-6EBF-2EF4F82CA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7" y="1527142"/>
            <a:ext cx="11500705" cy="4660206"/>
          </a:xfrm>
          <a:prstGeom prst="rect">
            <a:avLst/>
          </a:prstGeom>
        </p:spPr>
      </p:pic>
      <p:sp>
        <p:nvSpPr>
          <p:cNvPr id="3" name="Title 5">
            <a:extLst>
              <a:ext uri="{FF2B5EF4-FFF2-40B4-BE49-F238E27FC236}">
                <a16:creationId xmlns:a16="http://schemas.microsoft.com/office/drawing/2014/main" id="{A031C65B-54B4-0D2D-A67C-74C6F8CC85FF}"/>
              </a:ext>
            </a:extLst>
          </p:cNvPr>
          <p:cNvSpPr txBox="1">
            <a:spLocks/>
          </p:cNvSpPr>
          <p:nvPr/>
        </p:nvSpPr>
        <p:spPr>
          <a:xfrm>
            <a:off x="2144508" y="1557183"/>
            <a:ext cx="3528431" cy="486670"/>
          </a:xfrm>
          <a:prstGeom prst="roundRect">
            <a:avLst/>
          </a:prstGeom>
          <a:solidFill>
            <a:schemeClr val="tx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Cambria" panose="02040503050406030204" pitchFamily="18" charset="0"/>
              </a:rPr>
              <a:t>1882 recombination events</a:t>
            </a: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E76EBF96-488F-71C1-8035-945A2BBA3745}"/>
              </a:ext>
            </a:extLst>
          </p:cNvPr>
          <p:cNvSpPr txBox="1">
            <a:spLocks/>
          </p:cNvSpPr>
          <p:nvPr/>
        </p:nvSpPr>
        <p:spPr>
          <a:xfrm>
            <a:off x="8179535" y="1557183"/>
            <a:ext cx="2717005" cy="486670"/>
          </a:xfrm>
          <a:prstGeom prst="roundRect">
            <a:avLst/>
          </a:prstGeom>
          <a:solidFill>
            <a:schemeClr val="tx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Cambria" panose="02040503050406030204" pitchFamily="18" charset="0"/>
              </a:rPr>
              <a:t>Median 242 bp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89D5FD8-C232-68A0-ADF6-92B0DBEA5AFE}"/>
              </a:ext>
            </a:extLst>
          </p:cNvPr>
          <p:cNvSpPr/>
          <p:nvPr/>
        </p:nvSpPr>
        <p:spPr>
          <a:xfrm>
            <a:off x="567159" y="297937"/>
            <a:ext cx="1116956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ambria" panose="02040503050406030204" pitchFamily="18" charset="0"/>
              </a:rPr>
              <a:t>Micro- and macro-recombination in Coagulase Negative </a:t>
            </a:r>
            <a:r>
              <a:rPr lang="en-US" sz="2800" i="1" dirty="0">
                <a:solidFill>
                  <a:schemeClr val="bg1"/>
                </a:solidFill>
                <a:latin typeface="Cambria" panose="02040503050406030204" pitchFamily="18" charset="0"/>
              </a:rPr>
              <a:t>S. aureus</a:t>
            </a:r>
            <a:r>
              <a:rPr lang="en-US" sz="2800" dirty="0">
                <a:solidFill>
                  <a:schemeClr val="bg1"/>
                </a:solidFill>
                <a:latin typeface="Cambria" panose="02040503050406030204" pitchFamily="18" charset="0"/>
              </a:rPr>
              <a:t> (</a:t>
            </a:r>
            <a:r>
              <a:rPr lang="en-US" sz="2800" dirty="0" err="1">
                <a:solidFill>
                  <a:schemeClr val="bg1"/>
                </a:solidFill>
                <a:latin typeface="Cambria" panose="02040503050406030204" pitchFamily="18" charset="0"/>
              </a:rPr>
              <a:t>CoNS</a:t>
            </a:r>
            <a:r>
              <a:rPr lang="en-US" sz="2800" dirty="0">
                <a:solidFill>
                  <a:schemeClr val="bg1"/>
                </a:solidFill>
                <a:latin typeface="Cambria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5416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F4398B-F2E9-42EA-E19D-8BF175516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A24E3439-87EC-B334-FCA7-0EC2ED4F7474}"/>
              </a:ext>
            </a:extLst>
          </p:cNvPr>
          <p:cNvSpPr/>
          <p:nvPr/>
        </p:nvSpPr>
        <p:spPr>
          <a:xfrm>
            <a:off x="1006748" y="394080"/>
            <a:ext cx="5327777" cy="6192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ambria" panose="02040503050406030204" pitchFamily="18" charset="0"/>
              </a:rPr>
              <a:t>Varying rates of recombination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A50ACAC5-675F-AE4B-9A44-7A361F73F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748" y="1344049"/>
            <a:ext cx="10178504" cy="488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F0E5EF-6C57-9935-CB0B-DDC5F1D07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4169992-7661-FF00-E9EA-AC06C9954C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159"/>
          <a:stretch/>
        </p:blipFill>
        <p:spPr>
          <a:xfrm>
            <a:off x="5369068" y="141397"/>
            <a:ext cx="6454650" cy="6490355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6B86C2F-C535-D6B0-DAA3-1F12613A2B42}"/>
              </a:ext>
            </a:extLst>
          </p:cNvPr>
          <p:cNvSpPr/>
          <p:nvPr/>
        </p:nvSpPr>
        <p:spPr>
          <a:xfrm>
            <a:off x="1" y="605581"/>
            <a:ext cx="5109328" cy="187578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mbria" panose="02040503050406030204" pitchFamily="18" charset="0"/>
              </a:rPr>
              <a:t>Leaky barriers to DNA recombination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1D6312-D672-9DBD-87AD-4A1102EC5ADF}"/>
              </a:ext>
            </a:extLst>
          </p:cNvPr>
          <p:cNvSpPr/>
          <p:nvPr/>
        </p:nvSpPr>
        <p:spPr>
          <a:xfrm>
            <a:off x="5517664" y="121920"/>
            <a:ext cx="731520" cy="6705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BF610E1-5B4D-18A3-6A43-0E225554AF8F}"/>
              </a:ext>
            </a:extLst>
          </p:cNvPr>
          <p:cNvSpPr/>
          <p:nvPr/>
        </p:nvSpPr>
        <p:spPr>
          <a:xfrm>
            <a:off x="785225" y="3429000"/>
            <a:ext cx="3630556" cy="153619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Partner bias: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</a:t>
            </a:r>
          </a:p>
          <a:p>
            <a:r>
              <a:rPr lang="en-US" sz="2000" i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pseudoxylosus</a:t>
            </a:r>
            <a:r>
              <a:rPr lang="en-US" sz="2000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+ </a:t>
            </a:r>
            <a:r>
              <a:rPr lang="en-US" sz="2000" i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xylosus</a:t>
            </a:r>
            <a:endParaRPr lang="en-US" sz="2000" i="1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r>
              <a:rPr lang="en-US" sz="2000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epidermidis + hominis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9E127D-A3AF-7903-BF37-5607928C7FA1}"/>
              </a:ext>
            </a:extLst>
          </p:cNvPr>
          <p:cNvSpPr txBox="1"/>
          <p:nvPr/>
        </p:nvSpPr>
        <p:spPr>
          <a:xfrm>
            <a:off x="3816096" y="5730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596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AB377C-9B7F-503D-3114-8EE8FAA3B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A41F0EB-6C98-25ED-3B4F-386103E3EFEE}"/>
              </a:ext>
            </a:extLst>
          </p:cNvPr>
          <p:cNvSpPr/>
          <p:nvPr/>
        </p:nvSpPr>
        <p:spPr>
          <a:xfrm>
            <a:off x="502920" y="2971801"/>
            <a:ext cx="101486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4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Bioinformatics Tools</a:t>
            </a:r>
            <a:endParaRPr lang="en-US" sz="3600" dirty="0"/>
          </a:p>
        </p:txBody>
      </p:sp>
      <p:sp>
        <p:nvSpPr>
          <p:cNvPr id="4" name="Text 10">
            <a:extLst>
              <a:ext uri="{FF2B5EF4-FFF2-40B4-BE49-F238E27FC236}">
                <a16:creationId xmlns:a16="http://schemas.microsoft.com/office/drawing/2014/main" id="{EE1AF340-0B2F-1916-B875-20136A69924C}"/>
              </a:ext>
            </a:extLst>
          </p:cNvPr>
          <p:cNvSpPr/>
          <p:nvPr/>
        </p:nvSpPr>
        <p:spPr>
          <a:xfrm>
            <a:off x="502920" y="2530233"/>
            <a:ext cx="3440302" cy="304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E4593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265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54D84-667D-1196-11D6-D36BCF670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14">
            <a:extLst>
              <a:ext uri="{FF2B5EF4-FFF2-40B4-BE49-F238E27FC236}">
                <a16:creationId xmlns:a16="http://schemas.microsoft.com/office/drawing/2014/main" id="{95F8FA52-57D4-00A2-DCFC-5CC85086DF7B}"/>
              </a:ext>
            </a:extLst>
          </p:cNvPr>
          <p:cNvSpPr/>
          <p:nvPr/>
        </p:nvSpPr>
        <p:spPr>
          <a:xfrm>
            <a:off x="2358163" y="1692447"/>
            <a:ext cx="7608797" cy="3446148"/>
          </a:xfrm>
          <a:prstGeom prst="roundRect">
            <a:avLst>
              <a:gd name="adj" fmla="val 2169"/>
            </a:avLst>
          </a:prstGeom>
          <a:solidFill>
            <a:srgbClr val="F1F6F8"/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9750B626-3688-B5D4-6DF0-AFB0F191378D}"/>
              </a:ext>
            </a:extLst>
          </p:cNvPr>
          <p:cNvSpPr/>
          <p:nvPr/>
        </p:nvSpPr>
        <p:spPr>
          <a:xfrm>
            <a:off x="4379171" y="1959641"/>
            <a:ext cx="3433658" cy="420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B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branch's SNPs along the genome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179CFB15-1662-CA0F-110B-6D508E0849C1}"/>
              </a:ext>
            </a:extLst>
          </p:cNvPr>
          <p:cNvSpPr/>
          <p:nvPr/>
        </p:nvSpPr>
        <p:spPr>
          <a:xfrm>
            <a:off x="2483436" y="2865273"/>
            <a:ext cx="7254923" cy="550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12" name="Shape 17">
            <a:extLst>
              <a:ext uri="{FF2B5EF4-FFF2-40B4-BE49-F238E27FC236}">
                <a16:creationId xmlns:a16="http://schemas.microsoft.com/office/drawing/2014/main" id="{B72C434F-FC26-34E0-B233-42DF64E68888}"/>
              </a:ext>
            </a:extLst>
          </p:cNvPr>
          <p:cNvSpPr/>
          <p:nvPr/>
        </p:nvSpPr>
        <p:spPr>
          <a:xfrm>
            <a:off x="3156649" y="2931303"/>
            <a:ext cx="45720" cy="41819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908EDEE0-0E87-286F-725E-B8F726AB2669}"/>
              </a:ext>
            </a:extLst>
          </p:cNvPr>
          <p:cNvSpPr/>
          <p:nvPr/>
        </p:nvSpPr>
        <p:spPr>
          <a:xfrm>
            <a:off x="3667799" y="2931303"/>
            <a:ext cx="45720" cy="41819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14" name="Shape 19">
            <a:extLst>
              <a:ext uri="{FF2B5EF4-FFF2-40B4-BE49-F238E27FC236}">
                <a16:creationId xmlns:a16="http://schemas.microsoft.com/office/drawing/2014/main" id="{7A401E7A-03D6-446E-2283-0F2958C82138}"/>
              </a:ext>
            </a:extLst>
          </p:cNvPr>
          <p:cNvSpPr/>
          <p:nvPr/>
        </p:nvSpPr>
        <p:spPr>
          <a:xfrm>
            <a:off x="4218268" y="2931303"/>
            <a:ext cx="45720" cy="41819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15" name="Shape 20">
            <a:extLst>
              <a:ext uri="{FF2B5EF4-FFF2-40B4-BE49-F238E27FC236}">
                <a16:creationId xmlns:a16="http://schemas.microsoft.com/office/drawing/2014/main" id="{41F8E2E5-DF3B-B973-41FC-12173789F3F3}"/>
              </a:ext>
            </a:extLst>
          </p:cNvPr>
          <p:cNvSpPr/>
          <p:nvPr/>
        </p:nvSpPr>
        <p:spPr>
          <a:xfrm>
            <a:off x="5751716" y="2931303"/>
            <a:ext cx="45720" cy="41819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16" name="Shape 21">
            <a:extLst>
              <a:ext uri="{FF2B5EF4-FFF2-40B4-BE49-F238E27FC236}">
                <a16:creationId xmlns:a16="http://schemas.microsoft.com/office/drawing/2014/main" id="{7FABF644-B0F0-DA64-CA21-2EB6DAAA76AA}"/>
              </a:ext>
            </a:extLst>
          </p:cNvPr>
          <p:cNvSpPr/>
          <p:nvPr/>
        </p:nvSpPr>
        <p:spPr>
          <a:xfrm>
            <a:off x="6302185" y="2931303"/>
            <a:ext cx="45720" cy="41819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17" name="Shape 22">
            <a:extLst>
              <a:ext uri="{FF2B5EF4-FFF2-40B4-BE49-F238E27FC236}">
                <a16:creationId xmlns:a16="http://schemas.microsoft.com/office/drawing/2014/main" id="{4D5C0403-2345-902E-84F1-298E91F46520}"/>
              </a:ext>
            </a:extLst>
          </p:cNvPr>
          <p:cNvSpPr/>
          <p:nvPr/>
        </p:nvSpPr>
        <p:spPr>
          <a:xfrm>
            <a:off x="6869418" y="2931303"/>
            <a:ext cx="45720" cy="41819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0EC605F3-511E-C06A-FE8D-C56FEA92F3B5}"/>
              </a:ext>
            </a:extLst>
          </p:cNvPr>
          <p:cNvSpPr/>
          <p:nvPr/>
        </p:nvSpPr>
        <p:spPr>
          <a:xfrm>
            <a:off x="4609954" y="2843263"/>
            <a:ext cx="964960" cy="594268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19" name="Shape 24">
            <a:extLst>
              <a:ext uri="{FF2B5EF4-FFF2-40B4-BE49-F238E27FC236}">
                <a16:creationId xmlns:a16="http://schemas.microsoft.com/office/drawing/2014/main" id="{37B368D6-8F14-A634-75F1-4C68682FE656}"/>
              </a:ext>
            </a:extLst>
          </p:cNvPr>
          <p:cNvSpPr/>
          <p:nvPr/>
        </p:nvSpPr>
        <p:spPr>
          <a:xfrm>
            <a:off x="4724845" y="2931303"/>
            <a:ext cx="45720" cy="41819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20" name="Shape 25">
            <a:extLst>
              <a:ext uri="{FF2B5EF4-FFF2-40B4-BE49-F238E27FC236}">
                <a16:creationId xmlns:a16="http://schemas.microsoft.com/office/drawing/2014/main" id="{8C48C82A-43AA-7151-4FB6-E9479D172C69}"/>
              </a:ext>
            </a:extLst>
          </p:cNvPr>
          <p:cNvSpPr/>
          <p:nvPr/>
        </p:nvSpPr>
        <p:spPr>
          <a:xfrm>
            <a:off x="4823143" y="2931303"/>
            <a:ext cx="45720" cy="41819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21" name="Shape 26">
            <a:extLst>
              <a:ext uri="{FF2B5EF4-FFF2-40B4-BE49-F238E27FC236}">
                <a16:creationId xmlns:a16="http://schemas.microsoft.com/office/drawing/2014/main" id="{EDAA52BD-6A4C-53A9-EFDD-EE0521349186}"/>
              </a:ext>
            </a:extLst>
          </p:cNvPr>
          <p:cNvSpPr/>
          <p:nvPr/>
        </p:nvSpPr>
        <p:spPr>
          <a:xfrm>
            <a:off x="4921441" y="2931303"/>
            <a:ext cx="45720" cy="41819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22" name="Shape 27">
            <a:extLst>
              <a:ext uri="{FF2B5EF4-FFF2-40B4-BE49-F238E27FC236}">
                <a16:creationId xmlns:a16="http://schemas.microsoft.com/office/drawing/2014/main" id="{67D33235-D4E9-466B-7C54-8EAE8183C08E}"/>
              </a:ext>
            </a:extLst>
          </p:cNvPr>
          <p:cNvSpPr/>
          <p:nvPr/>
        </p:nvSpPr>
        <p:spPr>
          <a:xfrm>
            <a:off x="5019739" y="2931303"/>
            <a:ext cx="45720" cy="41819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23" name="Shape 28">
            <a:extLst>
              <a:ext uri="{FF2B5EF4-FFF2-40B4-BE49-F238E27FC236}">
                <a16:creationId xmlns:a16="http://schemas.microsoft.com/office/drawing/2014/main" id="{FC35D827-FD10-0761-C6CD-9C48C246389A}"/>
              </a:ext>
            </a:extLst>
          </p:cNvPr>
          <p:cNvSpPr/>
          <p:nvPr/>
        </p:nvSpPr>
        <p:spPr>
          <a:xfrm>
            <a:off x="5118037" y="2931303"/>
            <a:ext cx="45720" cy="41819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7FF33CA2-4D94-695B-A819-EC7772EC05A6}"/>
              </a:ext>
            </a:extLst>
          </p:cNvPr>
          <p:cNvSpPr/>
          <p:nvPr/>
        </p:nvSpPr>
        <p:spPr>
          <a:xfrm>
            <a:off x="5216335" y="2931303"/>
            <a:ext cx="45720" cy="41819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25" name="Shape 30">
            <a:extLst>
              <a:ext uri="{FF2B5EF4-FFF2-40B4-BE49-F238E27FC236}">
                <a16:creationId xmlns:a16="http://schemas.microsoft.com/office/drawing/2014/main" id="{EA601FD8-34B3-436D-60B8-57A7CF23E9E5}"/>
              </a:ext>
            </a:extLst>
          </p:cNvPr>
          <p:cNvSpPr/>
          <p:nvPr/>
        </p:nvSpPr>
        <p:spPr>
          <a:xfrm>
            <a:off x="5314633" y="2931303"/>
            <a:ext cx="45720" cy="41819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26" name="Shape 31">
            <a:extLst>
              <a:ext uri="{FF2B5EF4-FFF2-40B4-BE49-F238E27FC236}">
                <a16:creationId xmlns:a16="http://schemas.microsoft.com/office/drawing/2014/main" id="{AFCB1246-D723-E1A4-C97A-8B648E4B3F86}"/>
              </a:ext>
            </a:extLst>
          </p:cNvPr>
          <p:cNvSpPr/>
          <p:nvPr/>
        </p:nvSpPr>
        <p:spPr>
          <a:xfrm>
            <a:off x="5412931" y="2931303"/>
            <a:ext cx="45720" cy="41819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27" name="Text 32">
            <a:extLst>
              <a:ext uri="{FF2B5EF4-FFF2-40B4-BE49-F238E27FC236}">
                <a16:creationId xmlns:a16="http://schemas.microsoft.com/office/drawing/2014/main" id="{42FA7745-524D-CFED-0951-BA58B57B9D72}"/>
              </a:ext>
            </a:extLst>
          </p:cNvPr>
          <p:cNvSpPr/>
          <p:nvPr/>
        </p:nvSpPr>
        <p:spPr>
          <a:xfrm>
            <a:off x="2358163" y="3489108"/>
            <a:ext cx="2412402" cy="330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sparse = point mutation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8" name="Text 33">
            <a:extLst>
              <a:ext uri="{FF2B5EF4-FFF2-40B4-BE49-F238E27FC236}">
                <a16:creationId xmlns:a16="http://schemas.microsoft.com/office/drawing/2014/main" id="{798A1FF1-90ED-B2C4-EBCF-31EFBDCF6BA2}"/>
              </a:ext>
            </a:extLst>
          </p:cNvPr>
          <p:cNvSpPr/>
          <p:nvPr/>
        </p:nvSpPr>
        <p:spPr>
          <a:xfrm>
            <a:off x="6786414" y="3564765"/>
            <a:ext cx="2894882" cy="330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76F5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dense block = recombination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30" name="Text 35">
            <a:extLst>
              <a:ext uri="{FF2B5EF4-FFF2-40B4-BE49-F238E27FC236}">
                <a16:creationId xmlns:a16="http://schemas.microsoft.com/office/drawing/2014/main" id="{C2B4193B-4502-C6F8-F49F-CC149D70E614}"/>
              </a:ext>
            </a:extLst>
          </p:cNvPr>
          <p:cNvSpPr/>
          <p:nvPr/>
        </p:nvSpPr>
        <p:spPr>
          <a:xfrm>
            <a:off x="4117650" y="4368248"/>
            <a:ext cx="4414789" cy="484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Job of the Recombination detection tool: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find those blocks and set them aside.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4" name="Shape 23">
            <a:extLst>
              <a:ext uri="{FF2B5EF4-FFF2-40B4-BE49-F238E27FC236}">
                <a16:creationId xmlns:a16="http://schemas.microsoft.com/office/drawing/2014/main" id="{3F3C2AE2-DF89-4436-6FD6-DA675EA07E80}"/>
              </a:ext>
            </a:extLst>
          </p:cNvPr>
          <p:cNvSpPr/>
          <p:nvPr/>
        </p:nvSpPr>
        <p:spPr>
          <a:xfrm>
            <a:off x="7627474" y="2828023"/>
            <a:ext cx="964960" cy="594268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21130D7F-3D7A-C68B-E685-52CEE4977954}"/>
              </a:ext>
            </a:extLst>
          </p:cNvPr>
          <p:cNvSpPr/>
          <p:nvPr/>
        </p:nvSpPr>
        <p:spPr>
          <a:xfrm>
            <a:off x="7742365" y="2916063"/>
            <a:ext cx="45720" cy="41819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6" name="Shape 25">
            <a:extLst>
              <a:ext uri="{FF2B5EF4-FFF2-40B4-BE49-F238E27FC236}">
                <a16:creationId xmlns:a16="http://schemas.microsoft.com/office/drawing/2014/main" id="{2EDC77AC-BCF7-6F3B-7F1A-A45B669EC7CD}"/>
              </a:ext>
            </a:extLst>
          </p:cNvPr>
          <p:cNvSpPr/>
          <p:nvPr/>
        </p:nvSpPr>
        <p:spPr>
          <a:xfrm>
            <a:off x="7840663" y="2916063"/>
            <a:ext cx="45720" cy="41819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7" name="Shape 26">
            <a:extLst>
              <a:ext uri="{FF2B5EF4-FFF2-40B4-BE49-F238E27FC236}">
                <a16:creationId xmlns:a16="http://schemas.microsoft.com/office/drawing/2014/main" id="{49D63849-1471-717B-17F2-A803385BED7F}"/>
              </a:ext>
            </a:extLst>
          </p:cNvPr>
          <p:cNvSpPr/>
          <p:nvPr/>
        </p:nvSpPr>
        <p:spPr>
          <a:xfrm>
            <a:off x="7938961" y="2916063"/>
            <a:ext cx="45720" cy="41819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8" name="Shape 27">
            <a:extLst>
              <a:ext uri="{FF2B5EF4-FFF2-40B4-BE49-F238E27FC236}">
                <a16:creationId xmlns:a16="http://schemas.microsoft.com/office/drawing/2014/main" id="{37C5B7D3-2182-D837-E678-9C693C7FB6CC}"/>
              </a:ext>
            </a:extLst>
          </p:cNvPr>
          <p:cNvSpPr/>
          <p:nvPr/>
        </p:nvSpPr>
        <p:spPr>
          <a:xfrm>
            <a:off x="8037259" y="2916063"/>
            <a:ext cx="45720" cy="41819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2A1BA847-8E40-0D72-045D-7E0DB7EE0C16}"/>
              </a:ext>
            </a:extLst>
          </p:cNvPr>
          <p:cNvSpPr/>
          <p:nvPr/>
        </p:nvSpPr>
        <p:spPr>
          <a:xfrm>
            <a:off x="8135557" y="2916063"/>
            <a:ext cx="45720" cy="41819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B4A610A-F687-0453-BD59-D634DF2F03EE}"/>
              </a:ext>
            </a:extLst>
          </p:cNvPr>
          <p:cNvSpPr/>
          <p:nvPr/>
        </p:nvSpPr>
        <p:spPr>
          <a:xfrm>
            <a:off x="8233855" y="2916063"/>
            <a:ext cx="45720" cy="41819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15A3480-F0B4-4950-E673-2B58A546C80D}"/>
              </a:ext>
            </a:extLst>
          </p:cNvPr>
          <p:cNvSpPr/>
          <p:nvPr/>
        </p:nvSpPr>
        <p:spPr>
          <a:xfrm>
            <a:off x="8332153" y="2916063"/>
            <a:ext cx="45720" cy="41819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5CE9D3D7-6F7E-C22F-F066-F6328C2B5324}"/>
              </a:ext>
            </a:extLst>
          </p:cNvPr>
          <p:cNvSpPr/>
          <p:nvPr/>
        </p:nvSpPr>
        <p:spPr>
          <a:xfrm>
            <a:off x="8430451" y="2916063"/>
            <a:ext cx="45720" cy="41819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  <p:sp>
        <p:nvSpPr>
          <p:cNvPr id="34" name="Shape 18">
            <a:extLst>
              <a:ext uri="{FF2B5EF4-FFF2-40B4-BE49-F238E27FC236}">
                <a16:creationId xmlns:a16="http://schemas.microsoft.com/office/drawing/2014/main" id="{5AD86A01-4D52-F8CD-3774-77A74315A651}"/>
              </a:ext>
            </a:extLst>
          </p:cNvPr>
          <p:cNvSpPr/>
          <p:nvPr/>
        </p:nvSpPr>
        <p:spPr>
          <a:xfrm>
            <a:off x="9154199" y="2931303"/>
            <a:ext cx="45720" cy="41819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 sz="120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406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78665-35F6-8A7F-931D-CFE11269E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1B96AAF-C6DA-E3E3-6877-56400874D52C}"/>
              </a:ext>
            </a:extLst>
          </p:cNvPr>
          <p:cNvSpPr/>
          <p:nvPr/>
        </p:nvSpPr>
        <p:spPr>
          <a:xfrm>
            <a:off x="4556313" y="2407445"/>
            <a:ext cx="6735979" cy="33718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180FD-FFAF-2F11-1CA4-AE1BA080CB42}"/>
              </a:ext>
            </a:extLst>
          </p:cNvPr>
          <p:cNvSpPr txBox="1"/>
          <p:nvPr/>
        </p:nvSpPr>
        <p:spPr>
          <a:xfrm>
            <a:off x="5683989" y="3400872"/>
            <a:ext cx="504062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No bioinformatics tool / workflow is universally considered "most correct."</a:t>
            </a:r>
            <a:endParaRPr lang="en-US" sz="2800" b="1" dirty="0">
              <a:solidFill>
                <a:schemeClr val="bg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BF85C9-D18D-497C-185F-A0D617D1B0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86" b="18011"/>
          <a:stretch>
            <a:fillRect/>
          </a:stretch>
        </p:blipFill>
        <p:spPr>
          <a:xfrm>
            <a:off x="59580" y="57152"/>
            <a:ext cx="5217072" cy="298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75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DB1EEA-47F1-8390-25C0-86B597B72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5A28B3DF-EB0A-D399-1F56-6EE85B7233EE}"/>
              </a:ext>
            </a:extLst>
          </p:cNvPr>
          <p:cNvSpPr/>
          <p:nvPr/>
        </p:nvSpPr>
        <p:spPr>
          <a:xfrm>
            <a:off x="534358" y="1600205"/>
            <a:ext cx="1975104" cy="1051560"/>
          </a:xfrm>
          <a:prstGeom prst="roundRect">
            <a:avLst>
              <a:gd name="adj" fmla="val 7826"/>
            </a:avLst>
          </a:prstGeom>
          <a:solidFill>
            <a:srgbClr val="F1F6F8"/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4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17D5E87B-FDCD-9D2E-436D-93E8BE59D6DE}"/>
              </a:ext>
            </a:extLst>
          </p:cNvPr>
          <p:cNvSpPr/>
          <p:nvPr/>
        </p:nvSpPr>
        <p:spPr>
          <a:xfrm>
            <a:off x="644086" y="1709933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8170B40A-E292-E89A-4BAC-F9AA8F0C7780}"/>
              </a:ext>
            </a:extLst>
          </p:cNvPr>
          <p:cNvSpPr/>
          <p:nvPr/>
        </p:nvSpPr>
        <p:spPr>
          <a:xfrm>
            <a:off x="644086" y="2057405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FASTQ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0F1D8F4-11C6-975C-566B-6BE0066090FA}"/>
              </a:ext>
            </a:extLst>
          </p:cNvPr>
          <p:cNvSpPr/>
          <p:nvPr/>
        </p:nvSpPr>
        <p:spPr>
          <a:xfrm>
            <a:off x="3042786" y="2608900"/>
            <a:ext cx="1975104" cy="1317297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400">
              <a:latin typeface="Cambria" panose="02040503050406030204" pitchFamily="18" charset="0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D441B742-6B1E-041F-791A-DD763C1684CD}"/>
              </a:ext>
            </a:extLst>
          </p:cNvPr>
          <p:cNvSpPr/>
          <p:nvPr/>
        </p:nvSpPr>
        <p:spPr>
          <a:xfrm>
            <a:off x="3152514" y="2718629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Snippy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3844217-89E2-B192-47AE-1C73EB5370A7}"/>
              </a:ext>
            </a:extLst>
          </p:cNvPr>
          <p:cNvSpPr/>
          <p:nvPr/>
        </p:nvSpPr>
        <p:spPr>
          <a:xfrm>
            <a:off x="3152514" y="3194691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map to reference,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400" dirty="0"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call variants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9F42638-E26C-DFE4-9FDB-A66FEE4AA2CF}"/>
              </a:ext>
            </a:extLst>
          </p:cNvPr>
          <p:cNvSpPr/>
          <p:nvPr/>
        </p:nvSpPr>
        <p:spPr>
          <a:xfrm>
            <a:off x="5054466" y="3134681"/>
            <a:ext cx="231572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1400">
              <a:latin typeface="Cambria" panose="02040503050406030204" pitchFamily="18" charset="0"/>
            </a:endParaRP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9157CF25-58DB-AEE0-A9C1-78373F378B74}"/>
              </a:ext>
            </a:extLst>
          </p:cNvPr>
          <p:cNvSpPr/>
          <p:nvPr/>
        </p:nvSpPr>
        <p:spPr>
          <a:xfrm>
            <a:off x="5322614" y="2608901"/>
            <a:ext cx="1975104" cy="1317296"/>
          </a:xfrm>
          <a:prstGeom prst="roundRect">
            <a:avLst>
              <a:gd name="adj" fmla="val 7826"/>
            </a:avLst>
          </a:prstGeom>
          <a:solidFill>
            <a:srgbClr val="2A9D8F"/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400">
              <a:latin typeface="Cambria" panose="02040503050406030204" pitchFamily="18" charset="0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12371E8E-6590-2DE5-6795-A0AF78DFBC58}"/>
              </a:ext>
            </a:extLst>
          </p:cNvPr>
          <p:cNvSpPr/>
          <p:nvPr/>
        </p:nvSpPr>
        <p:spPr>
          <a:xfrm>
            <a:off x="5432342" y="2718629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Core / clean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E518A2C8-3FD3-24DA-8DC5-0518618CC06E}"/>
              </a:ext>
            </a:extLst>
          </p:cNvPr>
          <p:cNvSpPr/>
          <p:nvPr/>
        </p:nvSpPr>
        <p:spPr>
          <a:xfrm>
            <a:off x="5432342" y="3251841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snippy-core →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400" dirty="0"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clean_full_aln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BCFA3D8-BC07-E04A-72DB-2F96BEE433B2}"/>
              </a:ext>
            </a:extLst>
          </p:cNvPr>
          <p:cNvSpPr/>
          <p:nvPr/>
        </p:nvSpPr>
        <p:spPr>
          <a:xfrm>
            <a:off x="7334294" y="3134681"/>
            <a:ext cx="231572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14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86120234-6884-B102-EB85-43FEC44A97A3}"/>
              </a:ext>
            </a:extLst>
          </p:cNvPr>
          <p:cNvSpPr/>
          <p:nvPr/>
        </p:nvSpPr>
        <p:spPr>
          <a:xfrm>
            <a:off x="7602441" y="2608900"/>
            <a:ext cx="1975104" cy="1335589"/>
          </a:xfrm>
          <a:prstGeom prst="roundRect">
            <a:avLst>
              <a:gd name="adj" fmla="val 7826"/>
            </a:avLst>
          </a:prstGeom>
          <a:solidFill>
            <a:srgbClr val="E9A23B"/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4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77C456C8-38F7-867A-B52A-8B9412F7EC4C}"/>
              </a:ext>
            </a:extLst>
          </p:cNvPr>
          <p:cNvSpPr/>
          <p:nvPr/>
        </p:nvSpPr>
        <p:spPr>
          <a:xfrm>
            <a:off x="7712169" y="2718629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Gubbins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A3F2AD4A-F908-601E-4115-AE45A8911ED7}"/>
              </a:ext>
            </a:extLst>
          </p:cNvPr>
          <p:cNvSpPr/>
          <p:nvPr/>
        </p:nvSpPr>
        <p:spPr>
          <a:xfrm>
            <a:off x="7712169" y="3237553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recombination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5ECA8D04-F05F-9656-5E70-32FA6B1E98FA}"/>
              </a:ext>
            </a:extLst>
          </p:cNvPr>
          <p:cNvSpPr/>
          <p:nvPr/>
        </p:nvSpPr>
        <p:spPr>
          <a:xfrm>
            <a:off x="9614121" y="3134681"/>
            <a:ext cx="231572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1400">
              <a:latin typeface="Cambria" panose="02040503050406030204" pitchFamily="18" charset="0"/>
            </a:endParaRP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CC081FA2-1DDB-4767-5DB6-57353111ED31}"/>
              </a:ext>
            </a:extLst>
          </p:cNvPr>
          <p:cNvSpPr/>
          <p:nvPr/>
        </p:nvSpPr>
        <p:spPr>
          <a:xfrm>
            <a:off x="9882269" y="2608900"/>
            <a:ext cx="1975104" cy="1335579"/>
          </a:xfrm>
          <a:prstGeom prst="roundRect">
            <a:avLst>
              <a:gd name="adj" fmla="val 7826"/>
            </a:avLst>
          </a:prstGeom>
          <a:solidFill>
            <a:srgbClr val="0E2A3B"/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400">
              <a:latin typeface="Cambria" panose="02040503050406030204" pitchFamily="18" charset="0"/>
            </a:endParaRPr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DDCC75CF-2E1A-BC79-CD4F-F0893532B67F}"/>
              </a:ext>
            </a:extLst>
          </p:cNvPr>
          <p:cNvSpPr/>
          <p:nvPr/>
        </p:nvSpPr>
        <p:spPr>
          <a:xfrm>
            <a:off x="9991997" y="2718629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Phandango</a:t>
            </a:r>
            <a:r>
              <a:rPr lang="en-US" sz="1400" b="1" dirty="0"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/ R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F543B4CF-A38B-F0C8-3B96-34F6E390F171}"/>
              </a:ext>
            </a:extLst>
          </p:cNvPr>
          <p:cNvSpPr/>
          <p:nvPr/>
        </p:nvSpPr>
        <p:spPr>
          <a:xfrm>
            <a:off x="9991997" y="3123252"/>
            <a:ext cx="1901952" cy="7486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400" b="1" dirty="0"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View/Estimate recombination parameters</a:t>
            </a:r>
            <a:endParaRPr lang="en-US" sz="1400" dirty="0">
              <a:latin typeface="Cambria" panose="02040503050406030204" pitchFamily="18" charset="0"/>
            </a:endParaRPr>
          </a:p>
          <a:p>
            <a:pPr algn="ctr"/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27CB0427-72C7-28CA-BD40-2D1B78C4DE08}"/>
              </a:ext>
            </a:extLst>
          </p:cNvPr>
          <p:cNvSpPr/>
          <p:nvPr/>
        </p:nvSpPr>
        <p:spPr>
          <a:xfrm>
            <a:off x="542359" y="3469003"/>
            <a:ext cx="1975104" cy="1051560"/>
          </a:xfrm>
          <a:prstGeom prst="roundRect">
            <a:avLst>
              <a:gd name="adj" fmla="val 7826"/>
            </a:avLst>
          </a:prstGeom>
          <a:solidFill>
            <a:srgbClr val="F1F6F8"/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4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6BE6163C-FDCC-10EA-8EEC-4681C9E700CC}"/>
              </a:ext>
            </a:extLst>
          </p:cNvPr>
          <p:cNvSpPr/>
          <p:nvPr/>
        </p:nvSpPr>
        <p:spPr>
          <a:xfrm>
            <a:off x="652087" y="3578731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D8F5398E-C383-198F-FE51-7DA6F6005113}"/>
              </a:ext>
            </a:extLst>
          </p:cNvPr>
          <p:cNvSpPr/>
          <p:nvPr/>
        </p:nvSpPr>
        <p:spPr>
          <a:xfrm>
            <a:off x="652087" y="3926203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FASTA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E5787E0E-6690-9983-6D5A-03133310C288}"/>
              </a:ext>
            </a:extLst>
          </p:cNvPr>
          <p:cNvSpPr/>
          <p:nvPr/>
        </p:nvSpPr>
        <p:spPr>
          <a:xfrm>
            <a:off x="2669025" y="2117410"/>
            <a:ext cx="285750" cy="2008823"/>
          </a:xfrm>
          <a:prstGeom prst="righ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1ED4FACD-8625-C856-EFE9-97A8ABF1930B}"/>
              </a:ext>
            </a:extLst>
          </p:cNvPr>
          <p:cNvSpPr/>
          <p:nvPr/>
        </p:nvSpPr>
        <p:spPr>
          <a:xfrm>
            <a:off x="539643" y="5333056"/>
            <a:ext cx="1975104" cy="1051560"/>
          </a:xfrm>
          <a:prstGeom prst="roundRect">
            <a:avLst>
              <a:gd name="adj" fmla="val 7826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4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D6F9674F-3530-9063-3021-2D2430134A06}"/>
              </a:ext>
            </a:extLst>
          </p:cNvPr>
          <p:cNvSpPr/>
          <p:nvPr/>
        </p:nvSpPr>
        <p:spPr>
          <a:xfrm>
            <a:off x="649371" y="5442784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MASH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667F221E-D1CE-0A23-AC78-FA26913A52F2}"/>
              </a:ext>
            </a:extLst>
          </p:cNvPr>
          <p:cNvSpPr/>
          <p:nvPr/>
        </p:nvSpPr>
        <p:spPr>
          <a:xfrm>
            <a:off x="649371" y="5790256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Find best reference genome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7FD4606-AB2E-16CB-047A-C76237E644BE}"/>
              </a:ext>
            </a:extLst>
          </p:cNvPr>
          <p:cNvCxnSpPr/>
          <p:nvPr/>
        </p:nvCxnSpPr>
        <p:spPr>
          <a:xfrm flipV="1">
            <a:off x="1529911" y="4586289"/>
            <a:ext cx="0" cy="65722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BBEB00F-5131-C7CA-3851-11F7AE52E4A4}"/>
              </a:ext>
            </a:extLst>
          </p:cNvPr>
          <p:cNvSpPr/>
          <p:nvPr/>
        </p:nvSpPr>
        <p:spPr>
          <a:xfrm>
            <a:off x="3755502" y="468135"/>
            <a:ext cx="5109328" cy="9463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mbria" panose="02040503050406030204" pitchFamily="18" charset="0"/>
              </a:rPr>
              <a:t>Bioinformatics Workflow</a:t>
            </a:r>
          </a:p>
        </p:txBody>
      </p:sp>
    </p:spTree>
    <p:extLst>
      <p:ext uri="{BB962C8B-B14F-4D97-AF65-F5344CB8AC3E}">
        <p14:creationId xmlns:p14="http://schemas.microsoft.com/office/powerpoint/2010/main" val="3611065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BE862-3AFF-01B2-9E54-962BCE551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190A46AD-6ABD-8A33-9C64-3355F723B871}"/>
              </a:ext>
            </a:extLst>
          </p:cNvPr>
          <p:cNvSpPr/>
          <p:nvPr/>
        </p:nvSpPr>
        <p:spPr>
          <a:xfrm>
            <a:off x="723900" y="407756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reference genome?</a:t>
            </a:r>
            <a:endParaRPr lang="en-US" sz="290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481BD760-B07F-5915-2772-4D75FCB449FD}"/>
              </a:ext>
            </a:extLst>
          </p:cNvPr>
          <p:cNvSpPr/>
          <p:nvPr/>
        </p:nvSpPr>
        <p:spPr>
          <a:xfrm>
            <a:off x="502920" y="1275111"/>
            <a:ext cx="5486400" cy="5201085"/>
          </a:xfrm>
          <a:prstGeom prst="roundRect">
            <a:avLst>
              <a:gd name="adj" fmla="val 1818"/>
            </a:avLst>
          </a:prstGeom>
          <a:solidFill>
            <a:schemeClr val="tx1">
              <a:lumMod val="9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B8B56974-CAD5-4AF3-8482-2BB8DF973D30}"/>
              </a:ext>
            </a:extLst>
          </p:cNvPr>
          <p:cNvSpPr/>
          <p:nvPr/>
        </p:nvSpPr>
        <p:spPr>
          <a:xfrm>
            <a:off x="6263640" y="1485704"/>
            <a:ext cx="5440680" cy="3812122"/>
          </a:xfrm>
          <a:prstGeom prst="roundRect">
            <a:avLst>
              <a:gd name="adj" fmla="val 1818"/>
            </a:avLst>
          </a:prstGeom>
          <a:solidFill>
            <a:schemeClr val="tx1">
              <a:lumMod val="9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9CBD045C-9B87-2830-033C-66780C3AD05D}"/>
              </a:ext>
            </a:extLst>
          </p:cNvPr>
          <p:cNvSpPr/>
          <p:nvPr/>
        </p:nvSpPr>
        <p:spPr>
          <a:xfrm>
            <a:off x="6537960" y="2357510"/>
            <a:ext cx="4937760" cy="27084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buAutoNum type="arabicPeriod"/>
            </a:pPr>
            <a:r>
              <a:rPr lang="en-US" sz="2000" dirty="0">
                <a:solidFill>
                  <a:srgbClr val="14243D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CLOSENESS</a:t>
            </a:r>
          </a:p>
          <a:p>
            <a:pPr marL="342900" indent="-342900">
              <a:lnSpc>
                <a:spcPct val="114000"/>
              </a:lnSpc>
              <a:buAutoNum type="arabicPeriod"/>
            </a:pPr>
            <a:endParaRPr lang="en-US" sz="2000" dirty="0">
              <a:solidFill>
                <a:srgbClr val="14243D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4000"/>
              </a:lnSpc>
              <a:buAutoNum type="arabicPeriod"/>
            </a:pPr>
            <a:r>
              <a:rPr lang="en-US" sz="2000" dirty="0">
                <a:solidFill>
                  <a:srgbClr val="14243D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COMPLETENESS</a:t>
            </a:r>
          </a:p>
          <a:p>
            <a:pPr marL="342900" indent="-342900">
              <a:lnSpc>
                <a:spcPct val="114000"/>
              </a:lnSpc>
              <a:buAutoNum type="arabicPeriod"/>
            </a:pPr>
            <a:endParaRPr lang="en-US" sz="2000" dirty="0">
              <a:solidFill>
                <a:srgbClr val="14243D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4000"/>
              </a:lnSpc>
              <a:buAutoNum type="arabicPeriod"/>
            </a:pPr>
            <a:r>
              <a:rPr lang="en-US" sz="2000" dirty="0">
                <a:solidFill>
                  <a:srgbClr val="14243D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QUALITY &amp; ANNOTATION</a:t>
            </a:r>
          </a:p>
          <a:p>
            <a:pPr marL="342900" indent="-342900">
              <a:lnSpc>
                <a:spcPct val="114000"/>
              </a:lnSpc>
              <a:buAutoNum type="arabicPeriod"/>
            </a:pPr>
            <a:endParaRPr lang="en-US" sz="2000" dirty="0">
              <a:solidFill>
                <a:srgbClr val="14243D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4000"/>
              </a:lnSpc>
              <a:buAutoNum type="arabicPeriod"/>
            </a:pPr>
            <a:r>
              <a:rPr lang="en-US" sz="2000" dirty="0">
                <a:solidFill>
                  <a:srgbClr val="14243D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FITNESS FOR PURPOSE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24AB677-FEBF-0398-0D92-7E1E6C28689A}"/>
              </a:ext>
            </a:extLst>
          </p:cNvPr>
          <p:cNvSpPr/>
          <p:nvPr/>
        </p:nvSpPr>
        <p:spPr>
          <a:xfrm>
            <a:off x="716280" y="1494606"/>
            <a:ext cx="5044440" cy="26236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single, high-quality, fully-assembled genome chosen to represent a species or lineage.
It provides a fixed coordinate system: 'position 452,113' means something only relative to a reference.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E9A0AEB-0E39-E345-6CF8-F38F761ACDE9}"/>
              </a:ext>
            </a:extLst>
          </p:cNvPr>
          <p:cNvSpPr/>
          <p:nvPr/>
        </p:nvSpPr>
        <p:spPr>
          <a:xfrm>
            <a:off x="6537960" y="162899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good reference?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86D98A4F-1906-1BBD-0814-88547B88B4D2}"/>
              </a:ext>
            </a:extLst>
          </p:cNvPr>
          <p:cNvSpPr/>
          <p:nvPr/>
        </p:nvSpPr>
        <p:spPr>
          <a:xfrm>
            <a:off x="723900" y="4467503"/>
            <a:ext cx="5044440" cy="1679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2000" b="1" dirty="0">
                <a:solidFill>
                  <a:schemeClr val="bg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Sources: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RefSeq</a:t>
            </a: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GenBank, 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type strains 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genome from your own study</a:t>
            </a:r>
            <a:r>
              <a:rPr lang="en-US" sz="2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88CFAC-0A52-FE6E-E16B-2DCAA8007F6D}"/>
              </a:ext>
            </a:extLst>
          </p:cNvPr>
          <p:cNvSpPr txBox="1"/>
          <p:nvPr/>
        </p:nvSpPr>
        <p:spPr>
          <a:xfrm>
            <a:off x="6423660" y="5522334"/>
            <a:ext cx="5166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E7C8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Rule of thumb: as close as possible, as complete as possible, as is appropriate to the question.</a:t>
            </a:r>
            <a:endParaRPr lang="en-US" sz="1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200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BF7F37-74DD-089A-C770-76D0746ED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1">
            <a:extLst>
              <a:ext uri="{FF2B5EF4-FFF2-40B4-BE49-F238E27FC236}">
                <a16:creationId xmlns:a16="http://schemas.microsoft.com/office/drawing/2014/main" id="{7A5BF2AB-975A-5CAE-0609-E08343535478}"/>
              </a:ext>
            </a:extLst>
          </p:cNvPr>
          <p:cNvSpPr/>
          <p:nvPr/>
        </p:nvSpPr>
        <p:spPr>
          <a:xfrm>
            <a:off x="548639" y="489154"/>
            <a:ext cx="11094415" cy="482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 reference genome: MASH</a:t>
            </a:r>
            <a:endParaRPr lang="en-US" sz="3000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38920B56-06BE-F4A4-94A3-B871A1227288}"/>
              </a:ext>
            </a:extLst>
          </p:cNvPr>
          <p:cNvSpPr/>
          <p:nvPr/>
        </p:nvSpPr>
        <p:spPr>
          <a:xfrm>
            <a:off x="548638" y="1167815"/>
            <a:ext cx="11094415" cy="1274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  <a:hlinkClick r:id="rId2"/>
              </a:rPr>
              <a:t>https://github.com/marbl/Mash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  <a:ea typeface="Cambria" pitchFamily="34" charset="-122"/>
              <a:cs typeface="Cambria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Cambria" panose="02040503050406030204" pitchFamily="18" charset="0"/>
              <a:ea typeface="Cambria" pitchFamily="34" charset="-122"/>
              <a:cs typeface="Cambria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Calculates genome distances in a fraction of a second.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No alignment needed.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086E2021-06DE-6FA4-B0AC-E4534CCC10DB}"/>
              </a:ext>
            </a:extLst>
          </p:cNvPr>
          <p:cNvSpPr/>
          <p:nvPr/>
        </p:nvSpPr>
        <p:spPr>
          <a:xfrm>
            <a:off x="1926027" y="2802093"/>
            <a:ext cx="1975104" cy="1051560"/>
          </a:xfrm>
          <a:prstGeom prst="roundRect">
            <a:avLst>
              <a:gd name="adj" fmla="val 7826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5C1F7A58-5602-BD6A-6EC0-CA968F9F4DF7}"/>
              </a:ext>
            </a:extLst>
          </p:cNvPr>
          <p:cNvSpPr/>
          <p:nvPr/>
        </p:nvSpPr>
        <p:spPr>
          <a:xfrm>
            <a:off x="2035755" y="2911821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76EB9977-5F39-E8C1-81BF-A05F1842B39C}"/>
              </a:ext>
            </a:extLst>
          </p:cNvPr>
          <p:cNvSpPr/>
          <p:nvPr/>
        </p:nvSpPr>
        <p:spPr>
          <a:xfrm>
            <a:off x="2035755" y="3259293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into k-mers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 = 21 default)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83AE1593-8418-B172-A58F-1FD660E8B7A0}"/>
              </a:ext>
            </a:extLst>
          </p:cNvPr>
          <p:cNvSpPr/>
          <p:nvPr/>
        </p:nvSpPr>
        <p:spPr>
          <a:xfrm>
            <a:off x="4023591" y="3327873"/>
            <a:ext cx="292608" cy="0"/>
          </a:xfrm>
          <a:prstGeom prst="line">
            <a:avLst/>
          </a:prstGeom>
          <a:noFill/>
          <a:ln w="28575">
            <a:solidFill>
              <a:srgbClr val="E76F51"/>
            </a:solidFill>
            <a:prstDash val="solid"/>
            <a:tailEnd type="triangle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BDDA5A3B-896D-017C-0F48-E8F8E56202B8}"/>
              </a:ext>
            </a:extLst>
          </p:cNvPr>
          <p:cNvSpPr/>
          <p:nvPr/>
        </p:nvSpPr>
        <p:spPr>
          <a:xfrm>
            <a:off x="4517136" y="2802093"/>
            <a:ext cx="2104972" cy="1051560"/>
          </a:xfrm>
          <a:prstGeom prst="roundRect">
            <a:avLst>
              <a:gd name="adj" fmla="val 7826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84A7F157-6AB4-1AF3-8A05-7C37AC72A447}"/>
              </a:ext>
            </a:extLst>
          </p:cNvPr>
          <p:cNvSpPr/>
          <p:nvPr/>
        </p:nvSpPr>
        <p:spPr>
          <a:xfrm>
            <a:off x="4756732" y="2911821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k-mers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708C2C2D-8783-888B-1A58-2F6476BF6765}"/>
              </a:ext>
            </a:extLst>
          </p:cNvPr>
          <p:cNvSpPr/>
          <p:nvPr/>
        </p:nvSpPr>
        <p:spPr>
          <a:xfrm>
            <a:off x="4517136" y="3259293"/>
            <a:ext cx="19952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k-mer → a number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4D2FA25C-4DB3-2FA7-8A33-A8DDBF9913E7}"/>
              </a:ext>
            </a:extLst>
          </p:cNvPr>
          <p:cNvSpPr/>
          <p:nvPr/>
        </p:nvSpPr>
        <p:spPr>
          <a:xfrm>
            <a:off x="6686696" y="3327873"/>
            <a:ext cx="292608" cy="0"/>
          </a:xfrm>
          <a:prstGeom prst="line">
            <a:avLst/>
          </a:prstGeom>
          <a:noFill/>
          <a:ln w="28575">
            <a:solidFill>
              <a:srgbClr val="E76F51"/>
            </a:solidFill>
            <a:prstDash val="solid"/>
            <a:tailEnd type="triangle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27266C7A-CB53-E9E5-C88B-DAD0793DC21B}"/>
              </a:ext>
            </a:extLst>
          </p:cNvPr>
          <p:cNvSpPr/>
          <p:nvPr/>
        </p:nvSpPr>
        <p:spPr>
          <a:xfrm>
            <a:off x="7090189" y="2802093"/>
            <a:ext cx="2788264" cy="1051560"/>
          </a:xfrm>
          <a:prstGeom prst="roundRect">
            <a:avLst>
              <a:gd name="adj" fmla="val 7826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2E473BC8-A90E-4AE0-4A90-0DDE8A5CAA56}"/>
              </a:ext>
            </a:extLst>
          </p:cNvPr>
          <p:cNvSpPr/>
          <p:nvPr/>
        </p:nvSpPr>
        <p:spPr>
          <a:xfrm>
            <a:off x="7606497" y="2884572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smallest hashes (sketch -s)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37A61948-5FFE-D528-CA07-A9C7649384AE}"/>
              </a:ext>
            </a:extLst>
          </p:cNvPr>
          <p:cNvSpPr/>
          <p:nvPr/>
        </p:nvSpPr>
        <p:spPr>
          <a:xfrm>
            <a:off x="7199916" y="3294018"/>
            <a:ext cx="2580691" cy="446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MinHash sketch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 = 1000 default)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9821C4FD-D59C-D1F0-6DD4-A6FAE19C10F4}"/>
              </a:ext>
            </a:extLst>
          </p:cNvPr>
          <p:cNvSpPr/>
          <p:nvPr/>
        </p:nvSpPr>
        <p:spPr>
          <a:xfrm>
            <a:off x="2755315" y="4179135"/>
            <a:ext cx="6583680" cy="2444641"/>
          </a:xfrm>
          <a:prstGeom prst="roundRect">
            <a:avLst>
              <a:gd name="adj" fmla="val 473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A6E303C7-4AB7-884B-FE75-80B1F6E523FB}"/>
              </a:ext>
            </a:extLst>
          </p:cNvPr>
          <p:cNvSpPr/>
          <p:nvPr/>
        </p:nvSpPr>
        <p:spPr>
          <a:xfrm>
            <a:off x="2938195" y="426650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sketches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FD13F2BA-8BF1-053F-7B1C-F471D5C3FDE6}"/>
              </a:ext>
            </a:extLst>
          </p:cNvPr>
          <p:cNvSpPr/>
          <p:nvPr/>
        </p:nvSpPr>
        <p:spPr>
          <a:xfrm>
            <a:off x="2938195" y="475436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hashes estimate the Jaccard index J (fraction of k-mers in common). Mash converts that to a distance: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4B8E20B4-EF26-117E-A853-F06E55B605BA}"/>
              </a:ext>
            </a:extLst>
          </p:cNvPr>
          <p:cNvSpPr/>
          <p:nvPr/>
        </p:nvSpPr>
        <p:spPr>
          <a:xfrm>
            <a:off x="2880610" y="5478020"/>
            <a:ext cx="4206240" cy="1055926"/>
          </a:xfrm>
          <a:prstGeom prst="roundRect">
            <a:avLst>
              <a:gd name="adj" fmla="val 12903"/>
            </a:avLst>
          </a:prstGeom>
          <a:solidFill>
            <a:srgbClr val="0E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0C28B520-73DB-0016-9CE0-D1ACD82EB0AC}"/>
              </a:ext>
            </a:extLst>
          </p:cNvPr>
          <p:cNvSpPr/>
          <p:nvPr/>
        </p:nvSpPr>
        <p:spPr>
          <a:xfrm>
            <a:off x="3006775" y="5542028"/>
            <a:ext cx="4023360" cy="945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A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= Shared sketch / Total Sketch</a:t>
            </a:r>
            <a:br>
              <a:rPr lang="en-US" sz="1350" b="1" dirty="0">
                <a:solidFill>
                  <a:srgbClr val="E9A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endParaRPr lang="en-US" sz="1350" b="1" dirty="0">
              <a:solidFill>
                <a:srgbClr val="E9A2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350" b="1" dirty="0">
                <a:solidFill>
                  <a:srgbClr val="E9A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−(1/k) · ln[ 2J / (1 + J) ]</a:t>
            </a:r>
            <a:endParaRPr lang="en-US" sz="1350" dirty="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471D43F5-49F3-ED5A-F99A-EF62496EB013}"/>
              </a:ext>
            </a:extLst>
          </p:cNvPr>
          <p:cNvSpPr/>
          <p:nvPr/>
        </p:nvSpPr>
        <p:spPr>
          <a:xfrm>
            <a:off x="7351045" y="5673626"/>
            <a:ext cx="18341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Jaccard similarity</a:t>
            </a:r>
          </a:p>
          <a:p>
            <a:pPr marL="0" indent="0">
              <a:buNone/>
            </a:pPr>
            <a:endParaRPr lang="en-US" sz="1400" i="1" dirty="0">
              <a:solidFill>
                <a:srgbClr val="5B7385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i="1" dirty="0">
                <a:solidFill>
                  <a:srgbClr val="5B7385"/>
                </a:solidFill>
                <a:latin typeface="Calibri" pitchFamily="34" charset="0"/>
                <a:cs typeface="Calibri" pitchFamily="34" charset="-120"/>
              </a:rPr>
              <a:t>D = Mash distance</a:t>
            </a:r>
            <a:endParaRPr lang="en-US" sz="140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E3B42599-ED82-E501-1133-06A880B741FA}"/>
              </a:ext>
            </a:extLst>
          </p:cNvPr>
          <p:cNvSpPr/>
          <p:nvPr/>
        </p:nvSpPr>
        <p:spPr>
          <a:xfrm>
            <a:off x="11368735" y="7315205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61699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08DE15-D91B-F9A8-E80E-F01A0D16C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A6BA530-1852-2F01-5E01-7CC5B06FE0D0}"/>
              </a:ext>
            </a:extLst>
          </p:cNvPr>
          <p:cNvSpPr/>
          <p:nvPr/>
        </p:nvSpPr>
        <p:spPr>
          <a:xfrm>
            <a:off x="685800" y="366107"/>
            <a:ext cx="10957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SNIPPY: Reference-based variant calling &amp; alignment</a:t>
            </a:r>
            <a:endParaRPr lang="en-US" sz="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B999250-84F8-C1D2-62EA-23FFB77E6AB1}"/>
              </a:ext>
            </a:extLst>
          </p:cNvPr>
          <p:cNvSpPr/>
          <p:nvPr/>
        </p:nvSpPr>
        <p:spPr>
          <a:xfrm>
            <a:off x="548640" y="324786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1F6F8"/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23DCFBB-5ADB-8CC5-E937-C9088892FBCA}"/>
              </a:ext>
            </a:extLst>
          </p:cNvPr>
          <p:cNvSpPr/>
          <p:nvPr/>
        </p:nvSpPr>
        <p:spPr>
          <a:xfrm>
            <a:off x="548640" y="32752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BWA-MEM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0FF93C5-5121-2484-FF64-69F9CA493208}"/>
              </a:ext>
            </a:extLst>
          </p:cNvPr>
          <p:cNvSpPr/>
          <p:nvPr/>
        </p:nvSpPr>
        <p:spPr>
          <a:xfrm>
            <a:off x="685800" y="3814788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Map reads to the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reference genome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B2E3809-458C-F138-9A79-7E1CDF1F1F8E}"/>
              </a:ext>
            </a:extLst>
          </p:cNvPr>
          <p:cNvSpPr/>
          <p:nvPr/>
        </p:nvSpPr>
        <p:spPr>
          <a:xfrm>
            <a:off x="3044952" y="3933660"/>
            <a:ext cx="35143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039355C-967C-7A85-1F21-A70F51A6CFCD}"/>
              </a:ext>
            </a:extLst>
          </p:cNvPr>
          <p:cNvSpPr/>
          <p:nvPr/>
        </p:nvSpPr>
        <p:spPr>
          <a:xfrm>
            <a:off x="3423818" y="324786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1F6F8"/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281566A-A562-311F-D38F-3B91D9F7D590}"/>
              </a:ext>
            </a:extLst>
          </p:cNvPr>
          <p:cNvSpPr/>
          <p:nvPr/>
        </p:nvSpPr>
        <p:spPr>
          <a:xfrm>
            <a:off x="3423818" y="32752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FreeBayes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962FC96-30D0-66AB-14EB-7348FABFEF8B}"/>
              </a:ext>
            </a:extLst>
          </p:cNvPr>
          <p:cNvSpPr/>
          <p:nvPr/>
        </p:nvSpPr>
        <p:spPr>
          <a:xfrm>
            <a:off x="3560978" y="3814788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Call variants with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haploid settings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E4EC4AA-0235-7354-3D21-1773682BFCA7}"/>
              </a:ext>
            </a:extLst>
          </p:cNvPr>
          <p:cNvSpPr/>
          <p:nvPr/>
        </p:nvSpPr>
        <p:spPr>
          <a:xfrm>
            <a:off x="5920130" y="3933660"/>
            <a:ext cx="35143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D9730E1-E8C6-6F7B-0641-322F1AA3D559}"/>
              </a:ext>
            </a:extLst>
          </p:cNvPr>
          <p:cNvSpPr/>
          <p:nvPr/>
        </p:nvSpPr>
        <p:spPr>
          <a:xfrm>
            <a:off x="6298997" y="324786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1F6F8"/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179C9E2-898D-32C8-44B3-9B8A5E729909}"/>
              </a:ext>
            </a:extLst>
          </p:cNvPr>
          <p:cNvSpPr/>
          <p:nvPr/>
        </p:nvSpPr>
        <p:spPr>
          <a:xfrm>
            <a:off x="6298997" y="32752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DAA4F51-24E6-92B1-ED83-4C1EAD5B5412}"/>
              </a:ext>
            </a:extLst>
          </p:cNvPr>
          <p:cNvSpPr/>
          <p:nvPr/>
        </p:nvSpPr>
        <p:spPr>
          <a:xfrm>
            <a:off x="6436157" y="3814788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Min depth, quality &amp;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variant fraction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C8835FC-BF4D-2F0A-50AA-5D608DDCDF52}"/>
              </a:ext>
            </a:extLst>
          </p:cNvPr>
          <p:cNvSpPr/>
          <p:nvPr/>
        </p:nvSpPr>
        <p:spPr>
          <a:xfrm>
            <a:off x="8795309" y="3933660"/>
            <a:ext cx="35143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7BCB46F-1F4B-28F8-C75E-07C008A17471}"/>
              </a:ext>
            </a:extLst>
          </p:cNvPr>
          <p:cNvSpPr/>
          <p:nvPr/>
        </p:nvSpPr>
        <p:spPr>
          <a:xfrm>
            <a:off x="9174175" y="324786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1F6F8"/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9EC414F-3328-449C-5D40-F9D0ED72A7F0}"/>
              </a:ext>
            </a:extLst>
          </p:cNvPr>
          <p:cNvSpPr/>
          <p:nvPr/>
        </p:nvSpPr>
        <p:spPr>
          <a:xfrm>
            <a:off x="9174175" y="32752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SnpEff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39791A5-F77C-3160-F8F6-4E9C53E6934D}"/>
              </a:ext>
            </a:extLst>
          </p:cNvPr>
          <p:cNvSpPr/>
          <p:nvPr/>
        </p:nvSpPr>
        <p:spPr>
          <a:xfrm>
            <a:off x="9311335" y="3814788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Annotate the effect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of each variant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269E61-5B3A-18B3-0178-C1819CF290B9}"/>
              </a:ext>
            </a:extLst>
          </p:cNvPr>
          <p:cNvSpPr txBox="1"/>
          <p:nvPr/>
        </p:nvSpPr>
        <p:spPr>
          <a:xfrm>
            <a:off x="548641" y="1273790"/>
            <a:ext cx="1095725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  <a:hlinkClick r:id="rId2"/>
              </a:rPr>
              <a:t>https://github.com/tseemann/snippy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Given a reference genome and reads from one isolate, Snippy chains standard tools to find high-confidence differences.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6303D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Snippy-core</a:t>
            </a:r>
            <a:r>
              <a:rPr lang="en-US" sz="20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combines per-isolate results into a whole-genome alignment across all samples.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AE87C5-DF95-A59B-648F-4B19FCB1C1A9}"/>
              </a:ext>
            </a:extLst>
          </p:cNvPr>
          <p:cNvSpPr txBox="1"/>
          <p:nvPr/>
        </p:nvSpPr>
        <p:spPr>
          <a:xfrm>
            <a:off x="685799" y="5605008"/>
            <a:ext cx="98355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core.full.aln</a:t>
            </a: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 - the full alignment with every position for all samples.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clean.full.aln</a:t>
            </a: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- tidies odd characters → N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3049B0-42D1-D9BF-5B06-B42E42A00F49}"/>
              </a:ext>
            </a:extLst>
          </p:cNvPr>
          <p:cNvSpPr txBox="1"/>
          <p:nvPr/>
        </p:nvSpPr>
        <p:spPr>
          <a:xfrm>
            <a:off x="1197980" y="5149280"/>
            <a:ext cx="1510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B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output: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703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B6AA9-4FA5-4594-F9F2-E28DFC23D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96067509-6A8C-9A90-94EC-BD7D45A1382E}"/>
              </a:ext>
            </a:extLst>
          </p:cNvPr>
          <p:cNvSpPr/>
          <p:nvPr/>
        </p:nvSpPr>
        <p:spPr>
          <a:xfrm>
            <a:off x="685800" y="366107"/>
            <a:ext cx="10957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GUBBINS</a:t>
            </a:r>
            <a:endParaRPr lang="en-US" sz="3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0CFFED-9205-A671-69F6-9D6910989E50}"/>
              </a:ext>
            </a:extLst>
          </p:cNvPr>
          <p:cNvSpPr txBox="1"/>
          <p:nvPr/>
        </p:nvSpPr>
        <p:spPr>
          <a:xfrm>
            <a:off x="548945" y="1140807"/>
            <a:ext cx="1077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Gubbins = Genealogies Unbiased By recomBinations In Nucleotide Sequences.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0E25189E-9B63-B00B-9400-9810A21874A7}"/>
              </a:ext>
            </a:extLst>
          </p:cNvPr>
          <p:cNvSpPr/>
          <p:nvPr/>
        </p:nvSpPr>
        <p:spPr>
          <a:xfrm>
            <a:off x="386595" y="2171988"/>
            <a:ext cx="2048256" cy="2156935"/>
          </a:xfrm>
          <a:prstGeom prst="roundRect">
            <a:avLst>
              <a:gd name="adj" fmla="val 4091"/>
            </a:avLst>
          </a:prstGeom>
          <a:solidFill>
            <a:srgbClr val="F1F6F8"/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8254CE5-90EE-3AB0-3B0D-7D3917FCBF0F}"/>
              </a:ext>
            </a:extLst>
          </p:cNvPr>
          <p:cNvSpPr/>
          <p:nvPr/>
        </p:nvSpPr>
        <p:spPr>
          <a:xfrm>
            <a:off x="1154691" y="212337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087C39C-A8BD-04BD-E931-1827FE9261E8}"/>
              </a:ext>
            </a:extLst>
          </p:cNvPr>
          <p:cNvSpPr/>
          <p:nvPr/>
        </p:nvSpPr>
        <p:spPr>
          <a:xfrm>
            <a:off x="478035" y="2682431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Build a starting tree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7D27B0CB-5383-55CC-D148-32F54FD205D5}"/>
              </a:ext>
            </a:extLst>
          </p:cNvPr>
          <p:cNvSpPr/>
          <p:nvPr/>
        </p:nvSpPr>
        <p:spPr>
          <a:xfrm>
            <a:off x="496323" y="3470437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from the current alignment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26DB53E3-E0A9-5CA8-86BE-A60A4EB5C37A}"/>
              </a:ext>
            </a:extLst>
          </p:cNvPr>
          <p:cNvSpPr/>
          <p:nvPr/>
        </p:nvSpPr>
        <p:spPr>
          <a:xfrm>
            <a:off x="2508582" y="3177829"/>
            <a:ext cx="158420" cy="0"/>
          </a:xfrm>
          <a:prstGeom prst="line">
            <a:avLst/>
          </a:prstGeom>
          <a:noFill/>
          <a:ln w="28575">
            <a:solidFill>
              <a:srgbClr val="E9A23B"/>
            </a:solidFill>
            <a:prstDash val="solid"/>
            <a:tailEnd type="triangle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973395F9-7BD7-F860-4983-D5BC86440EE9}"/>
              </a:ext>
            </a:extLst>
          </p:cNvPr>
          <p:cNvSpPr/>
          <p:nvPr/>
        </p:nvSpPr>
        <p:spPr>
          <a:xfrm>
            <a:off x="2739575" y="2171988"/>
            <a:ext cx="2223034" cy="2156927"/>
          </a:xfrm>
          <a:prstGeom prst="roundRect">
            <a:avLst>
              <a:gd name="adj" fmla="val 4091"/>
            </a:avLst>
          </a:prstGeom>
          <a:solidFill>
            <a:srgbClr val="F1F6F8"/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5D953D65-7161-AA14-B35B-EEB5094E844A}"/>
              </a:ext>
            </a:extLst>
          </p:cNvPr>
          <p:cNvSpPr/>
          <p:nvPr/>
        </p:nvSpPr>
        <p:spPr>
          <a:xfrm>
            <a:off x="3682449" y="216967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CF8B2D05-9318-599D-72D9-079753FB3E8C}"/>
              </a:ext>
            </a:extLst>
          </p:cNvPr>
          <p:cNvSpPr/>
          <p:nvPr/>
        </p:nvSpPr>
        <p:spPr>
          <a:xfrm>
            <a:off x="2729158" y="2624557"/>
            <a:ext cx="22230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Reconstruct ancestors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3E8A8709-0B51-1D6C-C2DA-30DEAD200C13}"/>
              </a:ext>
            </a:extLst>
          </p:cNvPr>
          <p:cNvSpPr/>
          <p:nvPr/>
        </p:nvSpPr>
        <p:spPr>
          <a:xfrm>
            <a:off x="2792509" y="3470437"/>
            <a:ext cx="20603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infer sequences at internal nodes; assign SNPs to each branch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8DA13DCC-9D6F-1909-B236-BAE66B844493}"/>
              </a:ext>
            </a:extLst>
          </p:cNvPr>
          <p:cNvSpPr/>
          <p:nvPr/>
        </p:nvSpPr>
        <p:spPr>
          <a:xfrm>
            <a:off x="4990041" y="3177829"/>
            <a:ext cx="158420" cy="0"/>
          </a:xfrm>
          <a:prstGeom prst="line">
            <a:avLst/>
          </a:prstGeom>
          <a:noFill/>
          <a:ln w="28575">
            <a:solidFill>
              <a:srgbClr val="E9A23B"/>
            </a:solidFill>
            <a:prstDash val="solid"/>
            <a:tailEnd type="triangle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884B4E27-6951-88DE-2F0B-590326E9D33C}"/>
              </a:ext>
            </a:extLst>
          </p:cNvPr>
          <p:cNvSpPr/>
          <p:nvPr/>
        </p:nvSpPr>
        <p:spPr>
          <a:xfrm>
            <a:off x="5175893" y="2171988"/>
            <a:ext cx="2048256" cy="2156923"/>
          </a:xfrm>
          <a:prstGeom prst="roundRect">
            <a:avLst>
              <a:gd name="adj" fmla="val 4091"/>
            </a:avLst>
          </a:prstGeom>
          <a:solidFill>
            <a:srgbClr val="F1F6F8"/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32653D1D-A89F-975A-5248-0E2C39DF0419}"/>
              </a:ext>
            </a:extLst>
          </p:cNvPr>
          <p:cNvSpPr/>
          <p:nvPr/>
        </p:nvSpPr>
        <p:spPr>
          <a:xfrm>
            <a:off x="5943989" y="218124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9CA58E21-6D0C-4FEB-B665-53303F5F3C22}"/>
              </a:ext>
            </a:extLst>
          </p:cNvPr>
          <p:cNvSpPr/>
          <p:nvPr/>
        </p:nvSpPr>
        <p:spPr>
          <a:xfrm>
            <a:off x="5267333" y="2589837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Scan each branch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28060711-F77B-7DFC-4125-AA05F99E273F}"/>
              </a:ext>
            </a:extLst>
          </p:cNvPr>
          <p:cNvSpPr/>
          <p:nvPr/>
        </p:nvSpPr>
        <p:spPr>
          <a:xfrm>
            <a:off x="5285621" y="3470437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find regions where SNP density is far above expectation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E9BEBB29-9123-F91D-C1F4-80BFFF60392C}"/>
              </a:ext>
            </a:extLst>
          </p:cNvPr>
          <p:cNvSpPr/>
          <p:nvPr/>
        </p:nvSpPr>
        <p:spPr>
          <a:xfrm>
            <a:off x="7251581" y="3177829"/>
            <a:ext cx="158420" cy="0"/>
          </a:xfrm>
          <a:prstGeom prst="line">
            <a:avLst/>
          </a:prstGeom>
          <a:noFill/>
          <a:ln w="28575">
            <a:solidFill>
              <a:srgbClr val="E9A23B"/>
            </a:solidFill>
            <a:prstDash val="solid"/>
            <a:tailEnd type="triangle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B5D3B33D-71F9-EF03-7322-03A8C9322BF4}"/>
              </a:ext>
            </a:extLst>
          </p:cNvPr>
          <p:cNvSpPr/>
          <p:nvPr/>
        </p:nvSpPr>
        <p:spPr>
          <a:xfrm>
            <a:off x="7437432" y="2171988"/>
            <a:ext cx="2048256" cy="2156913"/>
          </a:xfrm>
          <a:prstGeom prst="roundRect">
            <a:avLst>
              <a:gd name="adj" fmla="val 4091"/>
            </a:avLst>
          </a:prstGeom>
          <a:solidFill>
            <a:srgbClr val="F1F6F8"/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16C719BF-E128-5B08-6E1B-FE06BF98CDE9}"/>
              </a:ext>
            </a:extLst>
          </p:cNvPr>
          <p:cNvSpPr/>
          <p:nvPr/>
        </p:nvSpPr>
        <p:spPr>
          <a:xfrm>
            <a:off x="8205528" y="219282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8C7D1A91-B9C0-D704-B7A9-48DE55603871}"/>
              </a:ext>
            </a:extLst>
          </p:cNvPr>
          <p:cNvSpPr/>
          <p:nvPr/>
        </p:nvSpPr>
        <p:spPr>
          <a:xfrm>
            <a:off x="7528872" y="2624558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Mask recombination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91423367-4FA6-BF37-5771-B6F40C54531C}"/>
              </a:ext>
            </a:extLst>
          </p:cNvPr>
          <p:cNvSpPr/>
          <p:nvPr/>
        </p:nvSpPr>
        <p:spPr>
          <a:xfrm>
            <a:off x="7547160" y="3470437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remove those blocks from the alignment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AAA80BB8-12C2-2A39-5425-BD79A029FD25}"/>
              </a:ext>
            </a:extLst>
          </p:cNvPr>
          <p:cNvSpPr/>
          <p:nvPr/>
        </p:nvSpPr>
        <p:spPr>
          <a:xfrm>
            <a:off x="9513120" y="3177829"/>
            <a:ext cx="158420" cy="0"/>
          </a:xfrm>
          <a:prstGeom prst="line">
            <a:avLst/>
          </a:prstGeom>
          <a:noFill/>
          <a:ln w="28575">
            <a:solidFill>
              <a:srgbClr val="E9A23B"/>
            </a:solidFill>
            <a:prstDash val="solid"/>
            <a:tailEnd type="triangle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BA32F074-22C9-CA3F-296A-371087794BC2}"/>
              </a:ext>
            </a:extLst>
          </p:cNvPr>
          <p:cNvSpPr/>
          <p:nvPr/>
        </p:nvSpPr>
        <p:spPr>
          <a:xfrm>
            <a:off x="9698972" y="2171988"/>
            <a:ext cx="2048256" cy="2156907"/>
          </a:xfrm>
          <a:prstGeom prst="roundRect">
            <a:avLst>
              <a:gd name="adj" fmla="val 4091"/>
            </a:avLst>
          </a:prstGeom>
          <a:solidFill>
            <a:srgbClr val="F1F6F8"/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3C45E36E-C3D2-A228-8D43-C3E8CC365409}"/>
              </a:ext>
            </a:extLst>
          </p:cNvPr>
          <p:cNvSpPr/>
          <p:nvPr/>
        </p:nvSpPr>
        <p:spPr>
          <a:xfrm>
            <a:off x="10467068" y="2181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2A86578D-0FE7-39A4-2819-DED80069314C}"/>
              </a:ext>
            </a:extLst>
          </p:cNvPr>
          <p:cNvSpPr/>
          <p:nvPr/>
        </p:nvSpPr>
        <p:spPr>
          <a:xfrm>
            <a:off x="9790412" y="2659282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Rebuild the tree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79351668-B917-E174-B0C0-C7D18D90080B}"/>
              </a:ext>
            </a:extLst>
          </p:cNvPr>
          <p:cNvSpPr/>
          <p:nvPr/>
        </p:nvSpPr>
        <p:spPr>
          <a:xfrm>
            <a:off x="9808700" y="3296813"/>
            <a:ext cx="1828800" cy="8137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from the remaining clonal SNPs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51CB9994-D14C-7521-5F6C-419B60B34177}"/>
              </a:ext>
            </a:extLst>
          </p:cNvPr>
          <p:cNvSpPr/>
          <p:nvPr/>
        </p:nvSpPr>
        <p:spPr>
          <a:xfrm>
            <a:off x="525490" y="4687169"/>
            <a:ext cx="11094415" cy="640080"/>
          </a:xfrm>
          <a:prstGeom prst="roundRect">
            <a:avLst>
              <a:gd name="adj" fmla="val 14286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A2F61CA1-CE85-B22B-3CAC-AFC776AF80CF}"/>
              </a:ext>
            </a:extLst>
          </p:cNvPr>
          <p:cNvSpPr/>
          <p:nvPr/>
        </p:nvSpPr>
        <p:spPr>
          <a:xfrm>
            <a:off x="525490" y="4760321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Repeat until the tree and the recombination predictions stop changing (convergence)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00ED31-52BD-A5D7-2680-A97EEC7F429A}"/>
              </a:ext>
            </a:extLst>
          </p:cNvPr>
          <p:cNvSpPr txBox="1"/>
          <p:nvPr/>
        </p:nvSpPr>
        <p:spPr>
          <a:xfrm>
            <a:off x="652813" y="5894004"/>
            <a:ext cx="110944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tree's branch lengths reflect clonal (point-mutation) divergence only — a fairer basis for dating and transmission analysis.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0565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A2483-A848-1CAE-A9CF-09EC4731F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">
            <a:extLst>
              <a:ext uri="{FF2B5EF4-FFF2-40B4-BE49-F238E27FC236}">
                <a16:creationId xmlns:a16="http://schemas.microsoft.com/office/drawing/2014/main" id="{0E059935-ADCA-0F79-B7EA-0EB7AE02711D}"/>
              </a:ext>
            </a:extLst>
          </p:cNvPr>
          <p:cNvSpPr/>
          <p:nvPr/>
        </p:nvSpPr>
        <p:spPr>
          <a:xfrm>
            <a:off x="685800" y="273508"/>
            <a:ext cx="10957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from GUBBINS</a:t>
            </a:r>
            <a:endParaRPr lang="en-US" sz="3000" dirty="0">
              <a:solidFill>
                <a:schemeClr val="bg2"/>
              </a:solidFill>
            </a:endParaRPr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BB263B35-486F-3D4E-2C62-4CC060F85E30}"/>
              </a:ext>
            </a:extLst>
          </p:cNvPr>
          <p:cNvSpPr/>
          <p:nvPr/>
        </p:nvSpPr>
        <p:spPr>
          <a:xfrm>
            <a:off x="685800" y="1167831"/>
            <a:ext cx="10771399" cy="5191024"/>
          </a:xfrm>
          <a:prstGeom prst="roundRect">
            <a:avLst>
              <a:gd name="adj" fmla="val 4737"/>
            </a:avLst>
          </a:prstGeom>
          <a:solidFill>
            <a:srgbClr val="F1F6F8"/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591025-B411-D29D-5742-4EF13B85419C}"/>
              </a:ext>
            </a:extLst>
          </p:cNvPr>
          <p:cNvSpPr txBox="1"/>
          <p:nvPr/>
        </p:nvSpPr>
        <p:spPr>
          <a:xfrm>
            <a:off x="972273" y="1306876"/>
            <a:ext cx="1012919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1. Recombination-masked tree </a:t>
            </a: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…</a:t>
            </a:r>
            <a:r>
              <a:rPr lang="en-US" sz="2000" dirty="0" err="1">
                <a:solidFill>
                  <a:schemeClr val="bg1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final_tree.tre</a:t>
            </a: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) </a:t>
            </a:r>
          </a:p>
          <a:p>
            <a:endParaRPr lang="en-US" sz="2000" b="1" dirty="0">
              <a:solidFill>
                <a:schemeClr val="bg1"/>
              </a:solidFill>
              <a:latin typeface="Cambria" panose="02040503050406030204" pitchFamily="18" charset="0"/>
              <a:cs typeface="Calibri" pitchFamily="34" charset="-12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cs typeface="Calibri" pitchFamily="34" charset="-120"/>
              </a:rPr>
              <a:t>2. </a:t>
            </a: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Filtered SNP alignment </a:t>
            </a: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…</a:t>
            </a:r>
            <a:r>
              <a:rPr lang="en-US" sz="2000" dirty="0" err="1">
                <a:solidFill>
                  <a:schemeClr val="bg1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filtered_polymorphic_sites.fasta</a:t>
            </a: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endParaRPr lang="en-US" sz="2000" b="1" dirty="0">
              <a:solidFill>
                <a:schemeClr val="bg1"/>
              </a:solidFill>
              <a:latin typeface="Cambria" panose="02040503050406030204" pitchFamily="18" charset="0"/>
              <a:cs typeface="Calibri" pitchFamily="34" charset="-12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cs typeface="Calibri" pitchFamily="34" charset="-120"/>
              </a:rPr>
              <a:t>3. </a:t>
            </a: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Predicted recombination regions </a:t>
            </a: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…</a:t>
            </a:r>
            <a:r>
              <a:rPr lang="en-US" sz="2000" dirty="0" err="1">
                <a:solidFill>
                  <a:schemeClr val="bg1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recombination_predictions.gff</a:t>
            </a: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endParaRPr lang="en-US" sz="2000" b="1" dirty="0">
              <a:solidFill>
                <a:schemeClr val="bg1"/>
              </a:solidFill>
              <a:latin typeface="Cambria" panose="02040503050406030204" pitchFamily="18" charset="0"/>
              <a:cs typeface="Calibri" pitchFamily="34" charset="-12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cs typeface="Calibri" pitchFamily="34" charset="-120"/>
              </a:rPr>
              <a:t>4. </a:t>
            </a: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Per-branch statistics. </a:t>
            </a: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.csv file containing: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60800C-D3E4-FDB4-DFC3-A8DBE3A0DC80}"/>
              </a:ext>
            </a:extLst>
          </p:cNvPr>
          <p:cNvSpPr txBox="1"/>
          <p:nvPr/>
        </p:nvSpPr>
        <p:spPr>
          <a:xfrm>
            <a:off x="1736202" y="3691385"/>
            <a:ext cx="680791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Total SNPs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SNPs Outside </a:t>
            </a:r>
            <a:r>
              <a:rPr lang="en-US" b="1" dirty="0" err="1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Recombinations</a:t>
            </a:r>
            <a:endParaRPr lang="en-US" b="1" dirty="0">
              <a:solidFill>
                <a:schemeClr val="bg1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SNPs Inside </a:t>
            </a:r>
            <a:r>
              <a:rPr lang="en-US" b="1" dirty="0" err="1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Recombinations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Bases in </a:t>
            </a:r>
            <a:r>
              <a:rPr lang="en-US" b="1" dirty="0" err="1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Recombinations</a:t>
            </a: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(incl / excl gaps)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Cumulative Bases in </a:t>
            </a:r>
            <a:r>
              <a:rPr lang="en-US" b="1" dirty="0" err="1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Recombinations</a:t>
            </a: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Genome Length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Number of Recombination Blocks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 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cs typeface="Calibri" pitchFamily="34" charset="-120"/>
              </a:rPr>
              <a:t>r/m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cs typeface="Calibri" pitchFamily="34" charset="-120"/>
              </a:rPr>
              <a:t>rho/theta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28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356312-EE5D-4F4D-168B-C2DDA573A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236A4BDF-22E3-98EF-EF7E-238FFF40293B}"/>
              </a:ext>
            </a:extLst>
          </p:cNvPr>
          <p:cNvSpPr/>
          <p:nvPr/>
        </p:nvSpPr>
        <p:spPr>
          <a:xfrm>
            <a:off x="548640" y="1159199"/>
            <a:ext cx="5394960" cy="3844530"/>
          </a:xfrm>
          <a:prstGeom prst="roundRect">
            <a:avLst>
              <a:gd name="adj" fmla="val 250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20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AD33809-DE84-FC33-C508-E6AA2C4E2072}"/>
              </a:ext>
            </a:extLst>
          </p:cNvPr>
          <p:cNvSpPr/>
          <p:nvPr/>
        </p:nvSpPr>
        <p:spPr>
          <a:xfrm>
            <a:off x="822960" y="1237907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r / m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A70E853D-E0A0-2A50-79DB-1F99E0839206}"/>
              </a:ext>
            </a:extLst>
          </p:cNvPr>
          <p:cNvSpPr/>
          <p:nvPr/>
        </p:nvSpPr>
        <p:spPr>
          <a:xfrm>
            <a:off x="822960" y="1866988"/>
            <a:ext cx="4846320" cy="7604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SNPs from recombination  ÷  SNPs from mutation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64762BEA-99AC-CF5F-8DC4-6DB3CAAF0DC2}"/>
              </a:ext>
            </a:extLst>
          </p:cNvPr>
          <p:cNvSpPr/>
          <p:nvPr/>
        </p:nvSpPr>
        <p:spPr>
          <a:xfrm>
            <a:off x="822960" y="2439359"/>
            <a:ext cx="4846320" cy="238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Measures IMPACT on diversity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How much of the sequence variation was imported vs. mutated in place.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r/m &gt; 1  →  recombination adds more variation than mutation.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5D14BDD-48AC-CB3C-70A1-F4609BC36C73}"/>
              </a:ext>
            </a:extLst>
          </p:cNvPr>
          <p:cNvSpPr/>
          <p:nvPr/>
        </p:nvSpPr>
        <p:spPr>
          <a:xfrm>
            <a:off x="6309360" y="1159199"/>
            <a:ext cx="5239512" cy="3844530"/>
          </a:xfrm>
          <a:prstGeom prst="roundRect">
            <a:avLst>
              <a:gd name="adj" fmla="val 250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D2DEE4"/>
            </a:solidFill>
            <a:prstDash val="solid"/>
          </a:ln>
        </p:spPr>
        <p:txBody>
          <a:bodyPr/>
          <a:lstStyle/>
          <a:p>
            <a:endParaRPr lang="en-US" sz="20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A418ACB1-748F-E222-9FDA-952A539205F8}"/>
              </a:ext>
            </a:extLst>
          </p:cNvPr>
          <p:cNvSpPr/>
          <p:nvPr/>
        </p:nvSpPr>
        <p:spPr>
          <a:xfrm>
            <a:off x="6583680" y="1237907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rho / theta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0C50EBA3-C240-6280-D674-EED82AD1C732}"/>
              </a:ext>
            </a:extLst>
          </p:cNvPr>
          <p:cNvSpPr/>
          <p:nvPr/>
        </p:nvSpPr>
        <p:spPr>
          <a:xfrm>
            <a:off x="6583680" y="1866988"/>
            <a:ext cx="4846320" cy="7604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recombination events  ÷  point-mutation events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9249E099-1CE9-8665-4AC7-813A8E6CD735}"/>
              </a:ext>
            </a:extLst>
          </p:cNvPr>
          <p:cNvSpPr/>
          <p:nvPr/>
        </p:nvSpPr>
        <p:spPr>
          <a:xfrm>
            <a:off x="6583680" y="2696897"/>
            <a:ext cx="4846320" cy="2129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Measures FREQUENCY / rate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How often recombination happens relative to mutation.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Counts events, ignoring how many SNPs each one brought.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F99AC9CC-2166-0988-BD22-98EBDD927E6C}"/>
              </a:ext>
            </a:extLst>
          </p:cNvPr>
          <p:cNvSpPr/>
          <p:nvPr/>
        </p:nvSpPr>
        <p:spPr>
          <a:xfrm>
            <a:off x="548640" y="5269949"/>
            <a:ext cx="11094415" cy="1397067"/>
          </a:xfrm>
          <a:prstGeom prst="roundRect">
            <a:avLst>
              <a:gd name="adj" fmla="val 8696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 sz="20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199D035A-C00D-9A10-747B-5604F2D5DF10}"/>
              </a:ext>
            </a:extLst>
          </p:cNvPr>
          <p:cNvSpPr/>
          <p:nvPr/>
        </p:nvSpPr>
        <p:spPr>
          <a:xfrm>
            <a:off x="822960" y="536139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r/m  ÷  rho/theta   ≈   average number of SNPs imported per recombination event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5C441109-0E97-2258-100B-0808DD07FB24}"/>
              </a:ext>
            </a:extLst>
          </p:cNvPr>
          <p:cNvSpPr/>
          <p:nvPr/>
        </p:nvSpPr>
        <p:spPr>
          <a:xfrm>
            <a:off x="822960" y="5800302"/>
            <a:ext cx="10545775" cy="774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lineage can recombine rarely (low rho/theta) yet still be reshaped a lot (high r/m) if each event imports a large block.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75C94922-1174-7D2E-D100-112840D7FEEC}"/>
              </a:ext>
            </a:extLst>
          </p:cNvPr>
          <p:cNvSpPr/>
          <p:nvPr/>
        </p:nvSpPr>
        <p:spPr>
          <a:xfrm>
            <a:off x="685800" y="261932"/>
            <a:ext cx="10957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r/m  vs  rho/theta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303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A52385-FF88-E3A1-9A7B-0FC01DB8F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4EC8D00-7B21-5978-F07E-5CE5D32D51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323667"/>
              </p:ext>
            </p:extLst>
          </p:nvPr>
        </p:nvGraphicFramePr>
        <p:xfrm>
          <a:off x="314446" y="1298401"/>
          <a:ext cx="11433860" cy="52819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58465">
                  <a:extLst>
                    <a:ext uri="{9D8B030D-6E8A-4147-A177-3AD203B41FA5}">
                      <a16:colId xmlns:a16="http://schemas.microsoft.com/office/drawing/2014/main" val="1862355209"/>
                    </a:ext>
                  </a:extLst>
                </a:gridCol>
                <a:gridCol w="2858465">
                  <a:extLst>
                    <a:ext uri="{9D8B030D-6E8A-4147-A177-3AD203B41FA5}">
                      <a16:colId xmlns:a16="http://schemas.microsoft.com/office/drawing/2014/main" val="3424435638"/>
                    </a:ext>
                  </a:extLst>
                </a:gridCol>
                <a:gridCol w="2858465">
                  <a:extLst>
                    <a:ext uri="{9D8B030D-6E8A-4147-A177-3AD203B41FA5}">
                      <a16:colId xmlns:a16="http://schemas.microsoft.com/office/drawing/2014/main" val="3715733168"/>
                    </a:ext>
                  </a:extLst>
                </a:gridCol>
                <a:gridCol w="2858465">
                  <a:extLst>
                    <a:ext uri="{9D8B030D-6E8A-4147-A177-3AD203B41FA5}">
                      <a16:colId xmlns:a16="http://schemas.microsoft.com/office/drawing/2014/main" val="2891355509"/>
                    </a:ext>
                  </a:extLst>
                </a:gridCol>
              </a:tblGrid>
              <a:tr h="450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Gubbins</a:t>
                      </a:r>
                      <a:endParaRPr lang="en-US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ClonalFrameML</a:t>
                      </a:r>
                      <a:endParaRPr lang="en-US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Verticall</a:t>
                      </a:r>
                      <a:endParaRPr lang="en-US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27363"/>
                  </a:ext>
                </a:extLst>
              </a:tr>
              <a:tr h="778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Input</a:t>
                      </a:r>
                      <a:endParaRPr lang="en-US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Whole-genome alignment</a:t>
                      </a:r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Whole-genome alignment + phylogenetic tree</a:t>
                      </a:r>
                      <a:endParaRPr lang="en-US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Pairwise genome comparisons (assemblies)</a:t>
                      </a:r>
                      <a:endParaRPr lang="en-US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8575877"/>
                  </a:ext>
                </a:extLst>
              </a:tr>
              <a:tr h="1445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Main approach</a:t>
                      </a:r>
                      <a:endParaRPr lang="en-US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Detects clusters of SNPs inconsistent with vertical inheritance</a:t>
                      </a:r>
                      <a:endParaRPr lang="en-US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Explicit evolutionary model of mutation and recombination</a:t>
                      </a:r>
                      <a:endParaRPr lang="en-US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Detects regions of unusually high sequence divergence between genome pairs</a:t>
                      </a:r>
                      <a:endParaRPr lang="en-US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4737860"/>
                  </a:ext>
                </a:extLst>
              </a:tr>
              <a:tr h="778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Requires tree?</a:t>
                      </a:r>
                      <a:endParaRPr lang="en-US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Builds and iteratively updates one</a:t>
                      </a:r>
                      <a:endParaRPr lang="en-US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Yes (user supplies one)</a:t>
                      </a:r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</a:t>
                      </a:r>
                      <a:endParaRPr lang="en-US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33106"/>
                  </a:ext>
                </a:extLst>
              </a:tr>
              <a:tr h="778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Output</a:t>
                      </a:r>
                      <a:endParaRPr lang="en-US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Recombination blocks, filtered alignment, tree</a:t>
                      </a:r>
                      <a:endParaRPr lang="en-US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Recombination events, evolutionary parameters</a:t>
                      </a:r>
                      <a:endParaRPr lang="en-US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Pairwise recombinant and vertically inherited regions</a:t>
                      </a:r>
                      <a:endParaRPr lang="en-US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887912"/>
                  </a:ext>
                </a:extLst>
              </a:tr>
              <a:tr h="778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Scalability</a:t>
                      </a:r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Very good (hundreds to thousands of genomes)</a:t>
                      </a:r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Good (hundreds)</a:t>
                      </a:r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Excellent</a:t>
                      </a:r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787761"/>
                  </a:ext>
                </a:extLst>
              </a:tr>
            </a:tbl>
          </a:graphicData>
        </a:graphic>
      </p:graphicFrame>
      <p:sp>
        <p:nvSpPr>
          <p:cNvPr id="15" name="Text 1">
            <a:extLst>
              <a:ext uri="{FF2B5EF4-FFF2-40B4-BE49-F238E27FC236}">
                <a16:creationId xmlns:a16="http://schemas.microsoft.com/office/drawing/2014/main" id="{7779E7D1-D91D-DB90-787E-DF3BC01CAB47}"/>
              </a:ext>
            </a:extLst>
          </p:cNvPr>
          <p:cNvSpPr/>
          <p:nvPr/>
        </p:nvSpPr>
        <p:spPr>
          <a:xfrm>
            <a:off x="685800" y="261932"/>
            <a:ext cx="10957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ambria" pitchFamily="34" charset="0"/>
              </a:rPr>
              <a:t>Recombination masking tools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596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01FCF-054E-0D66-36E0-D6FC2E3CC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73CE0DC-C1DB-D074-5FB0-3112C499687A}"/>
              </a:ext>
            </a:extLst>
          </p:cNvPr>
          <p:cNvSpPr/>
          <p:nvPr/>
        </p:nvSpPr>
        <p:spPr>
          <a:xfrm>
            <a:off x="312517" y="2016887"/>
            <a:ext cx="3993265" cy="282422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mbria" panose="02040503050406030204" pitchFamily="18" charset="0"/>
              </a:rPr>
              <a:t>Identify Lineage specific recombination events in invasive </a:t>
            </a:r>
            <a:r>
              <a:rPr lang="en-US" sz="3200" i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mbria" panose="02040503050406030204" pitchFamily="18" charset="0"/>
              </a:rPr>
              <a:t>E. coli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815715-25E6-DC7C-0847-D770AF14020F}"/>
              </a:ext>
            </a:extLst>
          </p:cNvPr>
          <p:cNvSpPr/>
          <p:nvPr/>
        </p:nvSpPr>
        <p:spPr>
          <a:xfrm>
            <a:off x="5517664" y="121920"/>
            <a:ext cx="731520" cy="6705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29CED8-7F76-2B11-7CCB-65EF301DEB6C}"/>
              </a:ext>
            </a:extLst>
          </p:cNvPr>
          <p:cNvSpPr txBox="1"/>
          <p:nvPr/>
        </p:nvSpPr>
        <p:spPr>
          <a:xfrm>
            <a:off x="3816096" y="5730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176644-6EFF-609B-B96C-8D8A4D76D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186" y="1364939"/>
            <a:ext cx="6912615" cy="412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960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26B70-1661-8B37-8B23-D81E4BACA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79DC2B-C698-830D-F17E-1FD2ED970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44" y="1691915"/>
            <a:ext cx="9945112" cy="2694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90E372-A791-10E2-B510-C7A33E12C21C}"/>
              </a:ext>
            </a:extLst>
          </p:cNvPr>
          <p:cNvSpPr txBox="1"/>
          <p:nvPr/>
        </p:nvSpPr>
        <p:spPr>
          <a:xfrm>
            <a:off x="1555441" y="5057028"/>
            <a:ext cx="95131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22222"/>
                </a:solidFill>
                <a:effectLst/>
                <a:latin typeface="Cambria" panose="02040503050406030204" pitchFamily="18" charset="0"/>
              </a:rPr>
              <a:t>Number of base substitutions reconstructed onto the branch that fall within (In) and outside (Out) a predicted recombination for each sequence cluster.</a:t>
            </a:r>
            <a:endParaRPr lang="en-US" sz="20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409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07F6B0-80A2-1E8B-4E3C-CB0A4005C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DBBDBF-308D-F774-54AD-03A209A609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95"/>
          <a:stretch>
            <a:fillRect/>
          </a:stretch>
        </p:blipFill>
        <p:spPr>
          <a:xfrm>
            <a:off x="1379313" y="1979270"/>
            <a:ext cx="9433373" cy="29723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30119F-F17B-CB47-FEA6-518E45D15BCD}"/>
              </a:ext>
            </a:extLst>
          </p:cNvPr>
          <p:cNvSpPr txBox="1"/>
          <p:nvPr/>
        </p:nvSpPr>
        <p:spPr>
          <a:xfrm>
            <a:off x="2213994" y="5440180"/>
            <a:ext cx="45027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22222"/>
                </a:solidFill>
                <a:effectLst/>
                <a:latin typeface="Cambria" panose="02040503050406030204" pitchFamily="18" charset="0"/>
              </a:rPr>
              <a:t>Total number of recombination blocks reconstructed onto the branch.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43BB07-EE41-725A-9FF1-BA80ECC20C9B}"/>
              </a:ext>
            </a:extLst>
          </p:cNvPr>
          <p:cNvSpPr txBox="1"/>
          <p:nvPr/>
        </p:nvSpPr>
        <p:spPr>
          <a:xfrm>
            <a:off x="7233407" y="5440180"/>
            <a:ext cx="45027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22222"/>
                </a:solidFill>
                <a:effectLst/>
                <a:latin typeface="Cambria" panose="02040503050406030204" pitchFamily="18" charset="0"/>
              </a:rPr>
              <a:t>Bases in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Cambria" panose="02040503050406030204" pitchFamily="18" charset="0"/>
              </a:rPr>
              <a:t>recombinations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Cambria" panose="02040503050406030204" pitchFamily="18" charset="0"/>
              </a:rPr>
              <a:t> refers to the total length of all recombination events reconstructed onto a branch</a:t>
            </a:r>
            <a:endParaRPr lang="en-US" sz="20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839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42F067-1473-7407-B1B2-F60FC24FF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6CA084-3F2A-8B76-125B-A20CF8F33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288" y="1252000"/>
            <a:ext cx="9597424" cy="31459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6E2514-9B30-3B5A-D598-AF5A8B66458F}"/>
              </a:ext>
            </a:extLst>
          </p:cNvPr>
          <p:cNvSpPr txBox="1"/>
          <p:nvPr/>
        </p:nvSpPr>
        <p:spPr>
          <a:xfrm>
            <a:off x="1780564" y="4467002"/>
            <a:ext cx="482996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22222"/>
                </a:solidFill>
                <a:effectLst/>
                <a:latin typeface="Cambria" panose="02040503050406030204" pitchFamily="18" charset="0"/>
              </a:rPr>
              <a:t>Cumulative bases in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Cambria" panose="02040503050406030204" pitchFamily="18" charset="0"/>
              </a:rPr>
              <a:t>recombinations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Cambria" panose="02040503050406030204" pitchFamily="18" charset="0"/>
              </a:rPr>
              <a:t> refers to the total number of bases in the alignment affected by recombination on a branch and its ancestors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C61AE-5FDB-B03B-BCE7-F86F0CBC17EA}"/>
              </a:ext>
            </a:extLst>
          </p:cNvPr>
          <p:cNvSpPr txBox="1"/>
          <p:nvPr/>
        </p:nvSpPr>
        <p:spPr>
          <a:xfrm>
            <a:off x="6671345" y="4467002"/>
            <a:ext cx="527457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22222"/>
                </a:solidFill>
                <a:effectLst/>
                <a:latin typeface="Cambria" panose="02040503050406030204" pitchFamily="18" charset="0"/>
              </a:rPr>
              <a:t>The value r/m is the ratio of probabilities that a given site was altered through recombination and mutation. It gives a measure of the relative impact of recombination (r) and mutation (m) on the variation accumulated on the branch.</a:t>
            </a:r>
            <a:endParaRPr lang="en-US" sz="20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1097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B873CF-AC8B-4CA9-2429-28A9D5AEE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9BB8C2D-A1A7-31F1-96B2-624A77C708DE}"/>
              </a:ext>
            </a:extLst>
          </p:cNvPr>
          <p:cNvSpPr/>
          <p:nvPr/>
        </p:nvSpPr>
        <p:spPr>
          <a:xfrm>
            <a:off x="719560" y="2040037"/>
            <a:ext cx="10752880" cy="255511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mbria" panose="02040503050406030204" pitchFamily="18" charset="0"/>
              </a:rPr>
              <a:t>Practical Session 1</a:t>
            </a:r>
            <a:endParaRPr lang="en-US" sz="3200" i="1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900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12932</TotalTime>
  <Words>1484</Words>
  <Application>Microsoft Macintosh PowerPoint</Application>
  <PresentationFormat>Widescreen</PresentationFormat>
  <Paragraphs>259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Aptos</vt:lpstr>
      <vt:lpstr>Arial</vt:lpstr>
      <vt:lpstr>Calibri</vt:lpstr>
      <vt:lpstr>Cambria</vt:lpstr>
      <vt:lpstr>Century Gothic</vt:lpstr>
      <vt:lpstr>Consolas</vt:lpstr>
      <vt:lpstr>Courier New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Ikhimiukor, Odion (HEALTH)</dc:creator>
  <cp:lastModifiedBy>Ifeoluwa Akintayo</cp:lastModifiedBy>
  <cp:revision>12</cp:revision>
  <dcterms:created xsi:type="dcterms:W3CDTF">2026-07-12T16:20:04Z</dcterms:created>
  <dcterms:modified xsi:type="dcterms:W3CDTF">2026-08-23T20:07:08Z</dcterms:modified>
</cp:coreProperties>
</file>